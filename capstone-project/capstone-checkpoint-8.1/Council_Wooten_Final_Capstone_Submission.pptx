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ff4d39bcf54b01" /><Relationship Type="http://schemas.openxmlformats.org/officeDocument/2006/relationships/extended-properties" Target="/docProps/app.xml" Id="R98429678b6bc4380" /><Relationship Type="http://schemas.openxmlformats.org/officeDocument/2006/relationships/officeDocument" Target="/ppt/presentation.xml" Id="Ra428779e29f642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37ca69a20046ef"/>
  </p:sldMasterIdLst>
  <p:notesMasterIdLst>
    <p:notesMasterId xmlns:r="http://schemas.openxmlformats.org/officeDocument/2006/relationships" r:id="R5fd98509e83f4088"/>
  </p:notesMasterIdLst>
  <p:sldIdLst>
    <p:sldId xmlns:r="http://schemas.openxmlformats.org/officeDocument/2006/relationships" id="256" r:id="R0941763963bc4c3e"/>
    <p:sldId xmlns:r="http://schemas.openxmlformats.org/officeDocument/2006/relationships" id="257" r:id="R35ab0a14051d4386"/>
    <p:sldId xmlns:r="http://schemas.openxmlformats.org/officeDocument/2006/relationships" id="258" r:id="Ra4f3e2c1857b4034"/>
    <p:sldId xmlns:r="http://schemas.openxmlformats.org/officeDocument/2006/relationships" id="259" r:id="Rae5264e45c4b4a6a"/>
    <p:sldId xmlns:r="http://schemas.openxmlformats.org/officeDocument/2006/relationships" id="260" r:id="R16dcdb1243584a49"/>
    <p:sldId xmlns:r="http://schemas.openxmlformats.org/officeDocument/2006/relationships" id="261" r:id="R161cc67c977b456a"/>
    <p:sldId xmlns:r="http://schemas.openxmlformats.org/officeDocument/2006/relationships" id="262" r:id="R1b1e6558790e43a9"/>
    <p:sldId xmlns:r="http://schemas.openxmlformats.org/officeDocument/2006/relationships" id="263" r:id="R368119d37b1140a1"/>
    <p:sldId xmlns:r="http://schemas.openxmlformats.org/officeDocument/2006/relationships" id="264" r:id="R52393e19617446bd"/>
    <p:sldId xmlns:r="http://schemas.openxmlformats.org/officeDocument/2006/relationships" id="265" r:id="R5fa32114108e4667"/>
    <p:sldId xmlns:r="http://schemas.openxmlformats.org/officeDocument/2006/relationships" id="266" r:id="R96681758ccb94bc2"/>
    <p:sldId xmlns:r="http://schemas.openxmlformats.org/officeDocument/2006/relationships" id="267" r:id="Re8e98a67bd594016"/>
  </p:sldIdLst>
  <p:sldSz cx="12192000" cy="68580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d6e634027443d6" /><Relationship Type="http://schemas.openxmlformats.org/officeDocument/2006/relationships/slideMaster" Target="/ppt/slideMasters/slideMaster1.xml" Id="Rc137ca69a20046ef" /><Relationship Type="http://schemas.openxmlformats.org/officeDocument/2006/relationships/notesMaster" Target="/ppt/notesMasters/notesMaster1.xml" Id="R5fd98509e83f4088" /><Relationship Type="http://schemas.openxmlformats.org/officeDocument/2006/relationships/presProps" Target="/ppt/presProps.xml" Id="Ra351e1e19a63413f" /><Relationship Type="http://schemas.openxmlformats.org/officeDocument/2006/relationships/viewProps" Target="/ppt/viewProps.xml" Id="R8981ece2ee0a4aaf" /><Relationship Type="http://schemas.openxmlformats.org/officeDocument/2006/relationships/tableStyles" Target="/ppt/tableStyles.xml" Id="R7fa8760b8b3a463b" /><Relationship Type="http://schemas.openxmlformats.org/officeDocument/2006/relationships/slide" Target="/ppt/slides/slide1.xml" Id="R0941763963bc4c3e" /><Relationship Type="http://schemas.openxmlformats.org/officeDocument/2006/relationships/slide" Target="/ppt/slides/slide2.xml" Id="R35ab0a14051d4386" /><Relationship Type="http://schemas.openxmlformats.org/officeDocument/2006/relationships/slide" Target="/ppt/slides/slide3.xml" Id="Ra4f3e2c1857b4034" /><Relationship Type="http://schemas.openxmlformats.org/officeDocument/2006/relationships/slide" Target="/ppt/slides/slide4.xml" Id="Rae5264e45c4b4a6a" /><Relationship Type="http://schemas.openxmlformats.org/officeDocument/2006/relationships/slide" Target="/ppt/slides/slide5.xml" Id="R16dcdb1243584a49" /><Relationship Type="http://schemas.openxmlformats.org/officeDocument/2006/relationships/slide" Target="/ppt/slides/slide6.xml" Id="R161cc67c977b456a" /><Relationship Type="http://schemas.openxmlformats.org/officeDocument/2006/relationships/slide" Target="/ppt/slides/slide7.xml" Id="R1b1e6558790e43a9" /><Relationship Type="http://schemas.openxmlformats.org/officeDocument/2006/relationships/slide" Target="/ppt/slides/slide8.xml" Id="R368119d37b1140a1" /><Relationship Type="http://schemas.openxmlformats.org/officeDocument/2006/relationships/slide" Target="/ppt/slides/slide9.xml" Id="R52393e19617446bd" /><Relationship Type="http://schemas.openxmlformats.org/officeDocument/2006/relationships/slide" Target="/ppt/slides/slide10.xml" Id="R5fa32114108e4667" /><Relationship Type="http://schemas.openxmlformats.org/officeDocument/2006/relationships/slide" Target="/ppt/slides/slide11.xml" Id="R96681758ccb94bc2" /><Relationship Type="http://schemas.openxmlformats.org/officeDocument/2006/relationships/slide" Target="/ppt/slides/slide12.xml" Id="Re8e98a67bd5940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2622db879a44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1_MIT PE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lue War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74bc0fe9e04644" /><Relationship Type="http://schemas.openxmlformats.org/officeDocument/2006/relationships/notesMaster" Target="/ppt/notesMasters/notesMaster1.xml" Id="Rb7a342a95e8d47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0385ec953d49e2" /><Relationship Type="http://schemas.openxmlformats.org/officeDocument/2006/relationships/notesMaster" Target="/ppt/notesMasters/notesMaster1.xml" Id="Re8c4b3053cf048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014ee3bc22437b" /><Relationship Type="http://schemas.openxmlformats.org/officeDocument/2006/relationships/notesMaster" Target="/ppt/notesMasters/notesMaster1.xml" Id="Rbf18e9d4d90440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1b80c08b244b71" /><Relationship Type="http://schemas.openxmlformats.org/officeDocument/2006/relationships/notesMaster" Target="/ppt/notesMasters/notesMaster1.xml" Id="Rbc2556c4966f4a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cb98a6134e438f" /><Relationship Type="http://schemas.openxmlformats.org/officeDocument/2006/relationships/notesMaster" Target="/ppt/notesMasters/notesMaster1.xml" Id="Rd0ab13cd1bbc4a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a8706f2f7447aa" /><Relationship Type="http://schemas.openxmlformats.org/officeDocument/2006/relationships/notesMaster" Target="/ppt/notesMasters/notesMaster1.xml" Id="Rdf2409afe3054c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6f0f96cd4c448a" /><Relationship Type="http://schemas.openxmlformats.org/officeDocument/2006/relationships/notesMaster" Target="/ppt/notesMasters/notesMaster1.xml" Id="R21cd4b8991b347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6a0b50f32f4e03" /><Relationship Type="http://schemas.openxmlformats.org/officeDocument/2006/relationships/notesMaster" Target="/ppt/notesMasters/notesMaster1.xml" Id="R7857f18596084e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099172dad24411" /><Relationship Type="http://schemas.openxmlformats.org/officeDocument/2006/relationships/notesMaster" Target="/ppt/notesMasters/notesMaster1.xml" Id="R36e3a8e791854d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353d3e00bc4bdc" /><Relationship Type="http://schemas.openxmlformats.org/officeDocument/2006/relationships/notesMaster" Target="/ppt/notesMasters/notesMaster1.xml" Id="R2ad649ca8ed44e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dad108f89a4c7c" /><Relationship Type="http://schemas.openxmlformats.org/officeDocument/2006/relationships/notesMaster" Target="/ppt/notesMasters/notesMaster1.xml" Id="R34bc7f13dd13493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104144c20d44817" /><Relationship Type="http://schemas.openxmlformats.org/officeDocument/2006/relationships/notesMaster" Target="/ppt/notesMasters/notesMaster1.xml" Id="R2d3c4b444d9d4a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0429dcf56c4fec" /><Relationship Type="http://schemas.openxmlformats.org/officeDocument/2006/relationships/image" Target="/ppt/media/image.png" Id="R1e57d380f7fe4d37" /><Relationship Type="http://schemas.openxmlformats.org/officeDocument/2006/relationships/image" Target="/ppt/media/image2.png" Id="Rbde18c1cebfd417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4649aa69914c35" /><Relationship Type="http://schemas.openxmlformats.org/officeDocument/2006/relationships/image" Target="/ppt/media/image3.png" Id="R5fb084e8d54e49b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4f03fad0a744f4" /><Relationship Type="http://schemas.openxmlformats.org/officeDocument/2006/relationships/image" Target="/ppt/media/image3.png" Id="R6c4631cfe626468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db5199ab704ba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77af3491f7497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2300a7eaa2492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2c8ab9cfe449b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4f255fa5344fe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ca7199c718496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ff420c0533400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8384ea6cd24e1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212dd28d524f1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baa3be18134e0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94e270a0b945f5" /></Relationships>
</file>

<file path=ppt/slideLayouts/slideLayout1.xml><?xml version="1.0" encoding="utf-8"?>
<p:sldLayout xmlns:p="http://schemas.openxmlformats.org/presentationml/2006/main" matchingName="1_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Google Shape;16;p5">
            <a:extLst xmlns:a="http://schemas.openxmlformats.org/drawingml/2006/main">
              <a:ext uri="{FF2B5EF4-FFF2-40B4-BE49-F238E27FC236}">
                <a16:creationId xmlns:a16="http://schemas.microsoft.com/office/drawing/2014/main" id="{85749734-32E8-4072-81A3-E9403A10ED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e57d380f7fe4d3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" name="Google Shape;17;p5">
            <a:extLst xmlns:a="http://schemas.openxmlformats.org/drawingml/2006/main">
              <a:ext uri="{FF2B5EF4-FFF2-40B4-BE49-F238E27FC236}">
                <a16:creationId xmlns:a16="http://schemas.microsoft.com/office/drawing/2014/main" id="{04DF48AC-7A9C-406B-9AC7-C5016E4F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19600"/>
            <a:ext cx="121920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8" name="Google Shape;18;p5">
            <a:extLst xmlns:a="http://schemas.openxmlformats.org/drawingml/2006/main">
              <a:ext uri="{FF2B5EF4-FFF2-40B4-BE49-F238E27FC236}">
                <a16:creationId xmlns:a16="http://schemas.microsoft.com/office/drawing/2014/main" id="{3455B324-A467-4EAE-A5F2-829D8FAC4A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de18c1cebfd417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830830" y="3686830"/>
            <a:ext cx="1905000" cy="52230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5_Blank">
  <p:cSld name="5_Blank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Google Shape;20;p6">
            <a:extLst xmlns:a="http://schemas.openxmlformats.org/drawingml/2006/main">
              <a:ext uri="{FF2B5EF4-FFF2-40B4-BE49-F238E27FC236}">
                <a16:creationId xmlns:a16="http://schemas.microsoft.com/office/drawing/2014/main" id="{9F5D896C-7348-47D5-AAA3-C2C76A64E0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fb084e8d54e49b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97369" y="6362197"/>
            <a:ext cx="960461" cy="37247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" name="Google Shape;21;p6">
            <a:extLst xmlns:a="http://schemas.openxmlformats.org/drawingml/2006/main">
              <a:ext uri="{FF2B5EF4-FFF2-40B4-BE49-F238E27FC236}">
                <a16:creationId xmlns:a16="http://schemas.microsoft.com/office/drawing/2014/main" id="{0A7F897E-8209-444E-8559-A527470D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matchingName="7_Blank">
  <p:cSld name="7_Blank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Google Shape;23;p7">
            <a:extLst xmlns:a="http://schemas.openxmlformats.org/drawingml/2006/main">
              <a:ext uri="{FF2B5EF4-FFF2-40B4-BE49-F238E27FC236}">
                <a16:creationId xmlns:a16="http://schemas.microsoft.com/office/drawing/2014/main" id="{8F3763E3-E95A-48A6-A0EA-EA7A3CF701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c4631cfe6264684">
            <a:alphaModFix amt="5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976469" y="2607021"/>
            <a:ext cx="4239062" cy="164395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Google Shape;25;p8">
            <a:extLst xmlns:a="http://schemas.openxmlformats.org/drawingml/2006/main">
              <a:ext uri="{FF2B5EF4-FFF2-40B4-BE49-F238E27FC236}">
                <a16:creationId xmlns:a16="http://schemas.microsoft.com/office/drawing/2014/main" id="{24B580C4-038F-48B9-B236-3BE66F635B9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6" name="Google Shape;26;p8">
            <a:extLst xmlns:a="http://schemas.openxmlformats.org/drawingml/2006/main">
              <a:ext uri="{FF2B5EF4-FFF2-40B4-BE49-F238E27FC236}">
                <a16:creationId xmlns:a16="http://schemas.microsoft.com/office/drawing/2014/main" id="{D8518487-8C3C-4786-8055-55AF8A0B61B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endParaRPr/>
          </a:p>
        </p:txBody>
      </p:sp>
      <p:sp>
        <p:nvSpPr>
          <p:cNvPr id="27" name="Google Shape;27;p8">
            <a:extLst xmlns:a="http://schemas.openxmlformats.org/drawingml/2006/main">
              <a:ext uri="{FF2B5EF4-FFF2-40B4-BE49-F238E27FC236}">
                <a16:creationId xmlns:a16="http://schemas.microsoft.com/office/drawing/2014/main" id="{929B0B6E-2AED-4721-8F5A-050D6D923D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8" name="Google Shape;28;p8">
            <a:extLst xmlns:a="http://schemas.openxmlformats.org/drawingml/2006/main">
              <a:ext uri="{FF2B5EF4-FFF2-40B4-BE49-F238E27FC236}">
                <a16:creationId xmlns:a16="http://schemas.microsoft.com/office/drawing/2014/main" id="{F309C83D-9117-415B-A85F-CDC8E6F712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9" name="Google Shape;29;p8">
            <a:extLst xmlns:a="http://schemas.openxmlformats.org/drawingml/2006/main">
              <a:ext uri="{FF2B5EF4-FFF2-40B4-BE49-F238E27FC236}">
                <a16:creationId xmlns:a16="http://schemas.microsoft.com/office/drawing/2014/main" id="{F548E8C7-E611-49AD-A80B-1B3071B68C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Google Shape;31;p9">
            <a:extLst xmlns:a="http://schemas.openxmlformats.org/drawingml/2006/main">
              <a:ext uri="{FF2B5EF4-FFF2-40B4-BE49-F238E27FC236}">
                <a16:creationId xmlns:a16="http://schemas.microsoft.com/office/drawing/2014/main" id="{C9F0523C-8244-4DE0-9FD3-C28CC0B9F4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2" name="Google Shape;32;p9">
            <a:extLst xmlns:a="http://schemas.openxmlformats.org/drawingml/2006/main">
              <a:ext uri="{FF2B5EF4-FFF2-40B4-BE49-F238E27FC236}">
                <a16:creationId xmlns:a16="http://schemas.microsoft.com/office/drawing/2014/main" id="{B5263527-73DF-47DA-81E4-3F9F959C89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3" name="Google Shape;33;p9">
            <a:extLst xmlns:a="http://schemas.openxmlformats.org/drawingml/2006/main">
              <a:ext uri="{FF2B5EF4-FFF2-40B4-BE49-F238E27FC236}">
                <a16:creationId xmlns:a16="http://schemas.microsoft.com/office/drawing/2014/main" id="{2F94E0F2-7C63-4A1B-8082-64208A87A3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4" name="Google Shape;34;p9">
            <a:extLst xmlns:a="http://schemas.openxmlformats.org/drawingml/2006/main">
              <a:ext uri="{FF2B5EF4-FFF2-40B4-BE49-F238E27FC236}">
                <a16:creationId xmlns:a16="http://schemas.microsoft.com/office/drawing/2014/main" id="{9DBA3396-1D0D-419A-8676-2211F1E210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5" name="Google Shape;35;p9">
            <a:extLst xmlns:a="http://schemas.openxmlformats.org/drawingml/2006/main">
              <a:ext uri="{FF2B5EF4-FFF2-40B4-BE49-F238E27FC236}">
                <a16:creationId xmlns:a16="http://schemas.microsoft.com/office/drawing/2014/main" id="{F1556E2B-1C84-4315-B2D7-7CEE23A8D4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Google Shape;37;p10">
            <a:extLst xmlns:a="http://schemas.openxmlformats.org/drawingml/2006/main">
              <a:ext uri="{FF2B5EF4-FFF2-40B4-BE49-F238E27FC236}">
                <a16:creationId xmlns:a16="http://schemas.microsoft.com/office/drawing/2014/main" id="{3AD49C15-22F8-43E3-B4ED-3031E21C0F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8" name="Google Shape;38;p10">
            <a:extLst xmlns:a="http://schemas.openxmlformats.org/drawingml/2006/main">
              <a:ext uri="{FF2B5EF4-FFF2-40B4-BE49-F238E27FC236}">
                <a16:creationId xmlns:a16="http://schemas.microsoft.com/office/drawing/2014/main" id="{9FCE8D89-2F29-4F06-8976-DEDB0C10A3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9" name="Google Shape;39;p10">
            <a:extLst xmlns:a="http://schemas.openxmlformats.org/drawingml/2006/main">
              <a:ext uri="{FF2B5EF4-FFF2-40B4-BE49-F238E27FC236}">
                <a16:creationId xmlns:a16="http://schemas.microsoft.com/office/drawing/2014/main" id="{D7F9725F-F7D2-47F9-8927-1CDF9AE99B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0" name="Google Shape;40;p10">
            <a:extLst xmlns:a="http://schemas.openxmlformats.org/drawingml/2006/main">
              <a:ext uri="{FF2B5EF4-FFF2-40B4-BE49-F238E27FC236}">
                <a16:creationId xmlns:a16="http://schemas.microsoft.com/office/drawing/2014/main" id="{8C225D3E-3C3A-4893-A0EA-ACEBB4DC4D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1" name="Google Shape;41;p10">
            <a:extLst xmlns:a="http://schemas.openxmlformats.org/drawingml/2006/main">
              <a:ext uri="{FF2B5EF4-FFF2-40B4-BE49-F238E27FC236}">
                <a16:creationId xmlns:a16="http://schemas.microsoft.com/office/drawing/2014/main" id="{DCB9EA0E-D04C-43E7-B306-D997C4C20B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Google Shape;43;p11">
            <a:extLst xmlns:a="http://schemas.openxmlformats.org/drawingml/2006/main">
              <a:ext uri="{FF2B5EF4-FFF2-40B4-BE49-F238E27FC236}">
                <a16:creationId xmlns:a16="http://schemas.microsoft.com/office/drawing/2014/main" id="{7D96F354-8B93-4D7F-ACC7-4406DEFA30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4" name="Google Shape;44;p11">
            <a:extLst xmlns:a="http://schemas.openxmlformats.org/drawingml/2006/main">
              <a:ext uri="{FF2B5EF4-FFF2-40B4-BE49-F238E27FC236}">
                <a16:creationId xmlns:a16="http://schemas.microsoft.com/office/drawing/2014/main" id="{131AB157-AA8D-44AE-A9C2-FB600443D8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9794CC0C-BBB1-4DDE-9A7D-83FD8DEA48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0CBF9D8E-52A2-4C7B-AFF3-E679E385B9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5E1B869D-2E7B-4523-B2EA-F9C05482CA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8" name="Google Shape;48;p11">
            <a:extLst xmlns:a="http://schemas.openxmlformats.org/drawingml/2006/main">
              <a:ext uri="{FF2B5EF4-FFF2-40B4-BE49-F238E27FC236}">
                <a16:creationId xmlns:a16="http://schemas.microsoft.com/office/drawing/2014/main" id="{2B697E00-F745-4BE7-A9C0-4FB1022B07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12">
            <a:extLst xmlns:a="http://schemas.openxmlformats.org/drawingml/2006/main">
              <a:ext uri="{FF2B5EF4-FFF2-40B4-BE49-F238E27FC236}">
                <a16:creationId xmlns:a16="http://schemas.microsoft.com/office/drawing/2014/main" id="{9532502B-8D89-4914-B24D-02989A5DAA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1" name="Google Shape;51;p12">
            <a:extLst xmlns:a="http://schemas.openxmlformats.org/drawingml/2006/main">
              <a:ext uri="{FF2B5EF4-FFF2-40B4-BE49-F238E27FC236}">
                <a16:creationId xmlns:a16="http://schemas.microsoft.com/office/drawing/2014/main" id="{404AE6AD-3E14-4360-9FFD-2A484F2AAC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52" name="Google Shape;52;p12">
            <a:extLst xmlns:a="http://schemas.openxmlformats.org/drawingml/2006/main">
              <a:ext uri="{FF2B5EF4-FFF2-40B4-BE49-F238E27FC236}">
                <a16:creationId xmlns:a16="http://schemas.microsoft.com/office/drawing/2014/main" id="{98FAE621-34BD-491B-AE81-52369DFC7CD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787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3" name="Google Shape;53;p12">
            <a:extLst xmlns:a="http://schemas.openxmlformats.org/drawingml/2006/main">
              <a:ext uri="{FF2B5EF4-FFF2-40B4-BE49-F238E27FC236}">
                <a16:creationId xmlns:a16="http://schemas.microsoft.com/office/drawing/2014/main" id="{180BAB85-86F3-4AE7-8AC5-F57B4E12698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54" name="Google Shape;54;p12">
            <a:extLst xmlns:a="http://schemas.openxmlformats.org/drawingml/2006/main">
              <a:ext uri="{FF2B5EF4-FFF2-40B4-BE49-F238E27FC236}">
                <a16:creationId xmlns:a16="http://schemas.microsoft.com/office/drawing/2014/main" id="{1B0868C6-DF6A-4DD6-B8A8-BF78A6560B8D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88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5" name="Google Shape;55;p12">
            <a:extLst xmlns:a="http://schemas.openxmlformats.org/drawingml/2006/main">
              <a:ext uri="{FF2B5EF4-FFF2-40B4-BE49-F238E27FC236}">
                <a16:creationId xmlns:a16="http://schemas.microsoft.com/office/drawing/2014/main" id="{54AFE90A-EFF2-4DA1-BBC4-A6CAD56BC5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6" name="Google Shape;56;p12">
            <a:extLst xmlns:a="http://schemas.openxmlformats.org/drawingml/2006/main">
              <a:ext uri="{FF2B5EF4-FFF2-40B4-BE49-F238E27FC236}">
                <a16:creationId xmlns:a16="http://schemas.microsoft.com/office/drawing/2014/main" id="{35BAAA69-606D-4372-AB34-139DE43F91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7" name="Google Shape;57;p12">
            <a:extLst xmlns:a="http://schemas.openxmlformats.org/drawingml/2006/main">
              <a:ext uri="{FF2B5EF4-FFF2-40B4-BE49-F238E27FC236}">
                <a16:creationId xmlns:a16="http://schemas.microsoft.com/office/drawing/2014/main" id="{51E2128A-3FA8-4B00-AF49-1E5C2932A4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13">
            <a:extLst xmlns:a="http://schemas.openxmlformats.org/drawingml/2006/main">
              <a:ext uri="{FF2B5EF4-FFF2-40B4-BE49-F238E27FC236}">
                <a16:creationId xmlns:a16="http://schemas.microsoft.com/office/drawing/2014/main" id="{414BD0E3-362C-47FF-B45A-01A4D450D6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0" name="Google Shape;60;p13">
            <a:extLst xmlns:a="http://schemas.openxmlformats.org/drawingml/2006/main">
              <a:ext uri="{FF2B5EF4-FFF2-40B4-BE49-F238E27FC236}">
                <a16:creationId xmlns:a16="http://schemas.microsoft.com/office/drawing/2014/main" id="{09C97D7F-6A13-4D19-BDBA-9CE6DB4596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1" name="Google Shape;61;p13">
            <a:extLst xmlns:a="http://schemas.openxmlformats.org/drawingml/2006/main">
              <a:ext uri="{FF2B5EF4-FFF2-40B4-BE49-F238E27FC236}">
                <a16:creationId xmlns:a16="http://schemas.microsoft.com/office/drawing/2014/main" id="{4618B5CB-AC5C-44F4-8250-1C80531E25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2" name="Google Shape;62;p13">
            <a:extLst xmlns:a="http://schemas.openxmlformats.org/drawingml/2006/main">
              <a:ext uri="{FF2B5EF4-FFF2-40B4-BE49-F238E27FC236}">
                <a16:creationId xmlns:a16="http://schemas.microsoft.com/office/drawing/2014/main" id="{1CF05342-410C-4B33-9393-7552DD78A9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1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Google Shape;65;p15">
            <a:extLst xmlns:a="http://schemas.openxmlformats.org/drawingml/2006/main">
              <a:ext uri="{FF2B5EF4-FFF2-40B4-BE49-F238E27FC236}">
                <a16:creationId xmlns:a16="http://schemas.microsoft.com/office/drawing/2014/main" id="{D97289CD-5F79-4E1C-B0A1-7CB2FC2D94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6" name="Google Shape;66;p15">
            <a:extLst xmlns:a="http://schemas.openxmlformats.org/drawingml/2006/main">
              <a:ext uri="{FF2B5EF4-FFF2-40B4-BE49-F238E27FC236}">
                <a16:creationId xmlns:a16="http://schemas.microsoft.com/office/drawing/2014/main" id="{36F79285-6408-4474-AD61-A42A633CF8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67" name="Google Shape;67;p15">
            <a:extLst xmlns:a="http://schemas.openxmlformats.org/drawingml/2006/main">
              <a:ext uri="{FF2B5EF4-FFF2-40B4-BE49-F238E27FC236}">
                <a16:creationId xmlns:a16="http://schemas.microsoft.com/office/drawing/2014/main" id="{19CDC461-34D7-48A7-97FA-8C7B81D00A5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endParaRPr/>
          </a:p>
        </p:txBody>
      </p:sp>
      <p:sp>
        <p:nvSpPr>
          <p:cNvPr id="68" name="Google Shape;68;p15">
            <a:extLst xmlns:a="http://schemas.openxmlformats.org/drawingml/2006/main">
              <a:ext uri="{FF2B5EF4-FFF2-40B4-BE49-F238E27FC236}">
                <a16:creationId xmlns:a16="http://schemas.microsoft.com/office/drawing/2014/main" id="{D5B1E1C8-4DA1-4789-BAEC-A5DBDEC5E1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9" name="Google Shape;69;p15">
            <a:extLst xmlns:a="http://schemas.openxmlformats.org/drawingml/2006/main">
              <a:ext uri="{FF2B5EF4-FFF2-40B4-BE49-F238E27FC236}">
                <a16:creationId xmlns:a16="http://schemas.microsoft.com/office/drawing/2014/main" id="{D6F00013-CC52-4635-BC01-0375CD39C4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8BFE42DF-BF3A-4B47-B736-583C6142CF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Google Shape;72;p16">
            <a:extLst xmlns:a="http://schemas.openxmlformats.org/drawingml/2006/main">
              <a:ext uri="{FF2B5EF4-FFF2-40B4-BE49-F238E27FC236}">
                <a16:creationId xmlns:a16="http://schemas.microsoft.com/office/drawing/2014/main" id="{EA63C9D8-71C9-4B60-A65C-BBBC850496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3" name="Google Shape;73;p16">
            <a:extLst xmlns:a="http://schemas.openxmlformats.org/drawingml/2006/main">
              <a:ext uri="{FF2B5EF4-FFF2-40B4-BE49-F238E27FC236}">
                <a16:creationId xmlns:a16="http://schemas.microsoft.com/office/drawing/2014/main" id="{A5E79F98-5A58-49F5-8308-8CB1B86B63D4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4" name="Google Shape;74;p16">
            <a:extLst xmlns:a="http://schemas.openxmlformats.org/drawingml/2006/main">
              <a:ext uri="{FF2B5EF4-FFF2-40B4-BE49-F238E27FC236}">
                <a16:creationId xmlns:a16="http://schemas.microsoft.com/office/drawing/2014/main" id="{08A1844B-EDE5-4B89-BCD6-482D7E20AD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endParaRPr/>
          </a:p>
        </p:txBody>
      </p:sp>
      <p:sp>
        <p:nvSpPr>
          <p:cNvPr id="75" name="Google Shape;75;p16">
            <a:extLst xmlns:a="http://schemas.openxmlformats.org/drawingml/2006/main">
              <a:ext uri="{FF2B5EF4-FFF2-40B4-BE49-F238E27FC236}">
                <a16:creationId xmlns:a16="http://schemas.microsoft.com/office/drawing/2014/main" id="{183CEF5C-5AAC-428F-B38C-BBE72C8976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6" name="Google Shape;76;p16">
            <a:extLst xmlns:a="http://schemas.openxmlformats.org/drawingml/2006/main">
              <a:ext uri="{FF2B5EF4-FFF2-40B4-BE49-F238E27FC236}">
                <a16:creationId xmlns:a16="http://schemas.microsoft.com/office/drawing/2014/main" id="{213B054A-00BF-431D-9923-CDCDA8775D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16">
            <a:extLst xmlns:a="http://schemas.openxmlformats.org/drawingml/2006/main">
              <a:ext uri="{FF2B5EF4-FFF2-40B4-BE49-F238E27FC236}">
                <a16:creationId xmlns:a16="http://schemas.microsoft.com/office/drawing/2014/main" id="{45E37906-45DC-44CC-B130-46F8CDB80F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Google Shape;79;p17">
            <a:extLst xmlns:a="http://schemas.openxmlformats.org/drawingml/2006/main">
              <a:ext uri="{FF2B5EF4-FFF2-40B4-BE49-F238E27FC236}">
                <a16:creationId xmlns:a16="http://schemas.microsoft.com/office/drawing/2014/main" id="{E2AE4898-F1A1-4AC9-850A-1B59BB1C8F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0" name="Google Shape;80;p17">
            <a:extLst xmlns:a="http://schemas.openxmlformats.org/drawingml/2006/main">
              <a:ext uri="{FF2B5EF4-FFF2-40B4-BE49-F238E27FC236}">
                <a16:creationId xmlns:a16="http://schemas.microsoft.com/office/drawing/2014/main" id="{FE209ED3-19E8-4A76-9C46-E205D2B804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331" y="-1256506"/>
            <a:ext cx="4351338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1" name="Google Shape;81;p17">
            <a:extLst xmlns:a="http://schemas.openxmlformats.org/drawingml/2006/main">
              <a:ext uri="{FF2B5EF4-FFF2-40B4-BE49-F238E27FC236}">
                <a16:creationId xmlns:a16="http://schemas.microsoft.com/office/drawing/2014/main" id="{F39B226C-8001-4683-8C85-093F6510D4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2" name="Google Shape;82;p17">
            <a:extLst xmlns:a="http://schemas.openxmlformats.org/drawingml/2006/main">
              <a:ext uri="{FF2B5EF4-FFF2-40B4-BE49-F238E27FC236}">
                <a16:creationId xmlns:a16="http://schemas.microsoft.com/office/drawing/2014/main" id="{CD83BD4E-C928-459F-A36F-1612D42015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3" name="Google Shape;83;p17">
            <a:extLst xmlns:a="http://schemas.openxmlformats.org/drawingml/2006/main">
              <a:ext uri="{FF2B5EF4-FFF2-40B4-BE49-F238E27FC236}">
                <a16:creationId xmlns:a16="http://schemas.microsoft.com/office/drawing/2014/main" id="{CD91EE89-FBE4-4819-B30B-F3BD199B6A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Google Shape;85;p18">
            <a:extLst xmlns:a="http://schemas.openxmlformats.org/drawingml/2006/main">
              <a:ext uri="{FF2B5EF4-FFF2-40B4-BE49-F238E27FC236}">
                <a16:creationId xmlns:a16="http://schemas.microsoft.com/office/drawing/2014/main" id="{961AB814-BBF0-46F4-8897-E0836BDDF2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31" y="1956594"/>
            <a:ext cx="5811838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6" name="Google Shape;86;p18">
            <a:extLst xmlns:a="http://schemas.openxmlformats.org/drawingml/2006/main">
              <a:ext uri="{FF2B5EF4-FFF2-40B4-BE49-F238E27FC236}">
                <a16:creationId xmlns:a16="http://schemas.microsoft.com/office/drawing/2014/main" id="{98EE91EF-6EF0-4A12-8192-2DF6766761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31" y="-596106"/>
            <a:ext cx="5811838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7" name="Google Shape;87;p18">
            <a:extLst xmlns:a="http://schemas.openxmlformats.org/drawingml/2006/main">
              <a:ext uri="{FF2B5EF4-FFF2-40B4-BE49-F238E27FC236}">
                <a16:creationId xmlns:a16="http://schemas.microsoft.com/office/drawing/2014/main" id="{F05E64EC-D6FC-421D-B4FA-D6AD10E618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8" name="Google Shape;88;p18">
            <a:extLst xmlns:a="http://schemas.openxmlformats.org/drawingml/2006/main">
              <a:ext uri="{FF2B5EF4-FFF2-40B4-BE49-F238E27FC236}">
                <a16:creationId xmlns:a16="http://schemas.microsoft.com/office/drawing/2014/main" id="{B48970F9-3102-4A7F-AA1D-98D5A7FCB5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9" name="Google Shape;89;p18">
            <a:extLst xmlns:a="http://schemas.openxmlformats.org/drawingml/2006/main">
              <a:ext uri="{FF2B5EF4-FFF2-40B4-BE49-F238E27FC236}">
                <a16:creationId xmlns:a16="http://schemas.microsoft.com/office/drawing/2014/main" id="{AA89B059-0CF8-4C97-BC84-D60E1E5AF8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70cd5d1a3c4523" /><Relationship Type="http://schemas.openxmlformats.org/officeDocument/2006/relationships/slideLayout" Target="/ppt/slideLayouts/slideLayout1.xml" Id="R38e66963c82945bd" /><Relationship Type="http://schemas.openxmlformats.org/officeDocument/2006/relationships/slideLayout" Target="/ppt/slideLayouts/slideLayout2.xml" Id="Rae492647633040ec" /><Relationship Type="http://schemas.openxmlformats.org/officeDocument/2006/relationships/slideLayout" Target="/ppt/slideLayouts/slideLayout3.xml" Id="R3ad3d029310d4bcb" /><Relationship Type="http://schemas.openxmlformats.org/officeDocument/2006/relationships/slideLayout" Target="/ppt/slideLayouts/slideLayout4.xml" Id="R02a24b243f104219" /><Relationship Type="http://schemas.openxmlformats.org/officeDocument/2006/relationships/slideLayout" Target="/ppt/slideLayouts/slideLayout5.xml" Id="R2a3817af0a624fae" /><Relationship Type="http://schemas.openxmlformats.org/officeDocument/2006/relationships/slideLayout" Target="/ppt/slideLayouts/slideLayout6.xml" Id="R3276825725174258" /><Relationship Type="http://schemas.openxmlformats.org/officeDocument/2006/relationships/slideLayout" Target="/ppt/slideLayouts/slideLayout7.xml" Id="Rebdb632abd174af0" /><Relationship Type="http://schemas.openxmlformats.org/officeDocument/2006/relationships/slideLayout" Target="/ppt/slideLayouts/slideLayout8.xml" Id="R25641e2f9f164e46" /><Relationship Type="http://schemas.openxmlformats.org/officeDocument/2006/relationships/slideLayout" Target="/ppt/slideLayouts/slideLayout9.xml" Id="R190b0e029e0c45a6" /><Relationship Type="http://schemas.openxmlformats.org/officeDocument/2006/relationships/slideLayout" Target="/ppt/slideLayouts/slideLayout10.xml" Id="R675ab222d1844b04" /><Relationship Type="http://schemas.openxmlformats.org/officeDocument/2006/relationships/slideLayout" Target="/ppt/slideLayouts/slideLayout11.xml" Id="R45e9ec6525894c60" /><Relationship Type="http://schemas.openxmlformats.org/officeDocument/2006/relationships/slideLayout" Target="/ppt/slideLayouts/slideLayout12.xml" Id="Rffc9fe6dd6504ae4" /><Relationship Type="http://schemas.openxmlformats.org/officeDocument/2006/relationships/slideLayout" Target="/ppt/slideLayouts/slideLayout13.xml" Id="R9ef28ac6c3da4155" /><Relationship Type="http://schemas.openxmlformats.org/officeDocument/2006/relationships/slideLayout" Target="/ppt/slideLayouts/slideLayout14.xml" Id="Rb69dc63282564bf2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4">
            <a:extLst xmlns:a="http://schemas.openxmlformats.org/drawingml/2006/main">
              <a:ext uri="{FF2B5EF4-FFF2-40B4-BE49-F238E27FC236}">
                <a16:creationId xmlns:a16="http://schemas.microsoft.com/office/drawing/2014/main" id="{E50B03CF-D57A-4247-841E-59FF36D0A6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" name="Google Shape;11;p4">
            <a:extLst xmlns:a="http://schemas.openxmlformats.org/drawingml/2006/main">
              <a:ext uri="{FF2B5EF4-FFF2-40B4-BE49-F238E27FC236}">
                <a16:creationId xmlns:a16="http://schemas.microsoft.com/office/drawing/2014/main" id="{D4925058-44E8-4182-A24C-F8548D3895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2" name="Google Shape;12;p4">
            <a:extLst xmlns:a="http://schemas.openxmlformats.org/drawingml/2006/main">
              <a:ext uri="{FF2B5EF4-FFF2-40B4-BE49-F238E27FC236}">
                <a16:creationId xmlns:a16="http://schemas.microsoft.com/office/drawing/2014/main" id="{80B8074F-0026-4044-A7CE-8F79036C33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3" name="Google Shape;13;p4">
            <a:extLst xmlns:a="http://schemas.openxmlformats.org/drawingml/2006/main">
              <a:ext uri="{FF2B5EF4-FFF2-40B4-BE49-F238E27FC236}">
                <a16:creationId xmlns:a16="http://schemas.microsoft.com/office/drawing/2014/main" id="{8BDE4906-2ECA-4B42-8FC7-39F32815D3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4" name="Google Shape;14;p4">
            <a:extLst xmlns:a="http://schemas.openxmlformats.org/drawingml/2006/main">
              <a:ext uri="{FF2B5EF4-FFF2-40B4-BE49-F238E27FC236}">
                <a16:creationId xmlns:a16="http://schemas.microsoft.com/office/drawing/2014/main" id="{35F1B453-3796-42E3-B99A-0C4066EC48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e66963c82945bd"/>
    <p:sldLayoutId xmlns:r="http://schemas.openxmlformats.org/officeDocument/2006/relationships" id="2147483650" r:id="Rae492647633040ec"/>
    <p:sldLayoutId xmlns:r="http://schemas.openxmlformats.org/officeDocument/2006/relationships" id="2147483651" r:id="R3ad3d029310d4bcb"/>
    <p:sldLayoutId xmlns:r="http://schemas.openxmlformats.org/officeDocument/2006/relationships" id="2147483652" r:id="R02a24b243f104219"/>
    <p:sldLayoutId xmlns:r="http://schemas.openxmlformats.org/officeDocument/2006/relationships" id="2147483653" r:id="R2a3817af0a624fae"/>
    <p:sldLayoutId xmlns:r="http://schemas.openxmlformats.org/officeDocument/2006/relationships" id="2147483654" r:id="R3276825725174258"/>
    <p:sldLayoutId xmlns:r="http://schemas.openxmlformats.org/officeDocument/2006/relationships" id="2147483655" r:id="Rebdb632abd174af0"/>
    <p:sldLayoutId xmlns:r="http://schemas.openxmlformats.org/officeDocument/2006/relationships" id="2147483656" r:id="R25641e2f9f164e46"/>
    <p:sldLayoutId xmlns:r="http://schemas.openxmlformats.org/officeDocument/2006/relationships" id="2147483657" r:id="R190b0e029e0c45a6"/>
    <p:sldLayoutId xmlns:r="http://schemas.openxmlformats.org/officeDocument/2006/relationships" id="2147483658" r:id="R675ab222d1844b04"/>
    <p:sldLayoutId xmlns:r="http://schemas.openxmlformats.org/officeDocument/2006/relationships" id="2147483659" r:id="R45e9ec6525894c60"/>
    <p:sldLayoutId xmlns:r="http://schemas.openxmlformats.org/officeDocument/2006/relationships" id="2147483660" r:id="Rffc9fe6dd6504ae4"/>
    <p:sldLayoutId xmlns:r="http://schemas.openxmlformats.org/officeDocument/2006/relationships" id="2147483661" r:id="R9ef28ac6c3da4155"/>
    <p:sldLayoutId xmlns:r="http://schemas.openxmlformats.org/officeDocument/2006/relationships" id="2147483662" r:id="Rb69dc63282564bf2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1_MIT PE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lue War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07a9e1dc1496a" /><Relationship Type="http://schemas.openxmlformats.org/officeDocument/2006/relationships/image" Target="/ppt/media/image.jpeg" Id="R1e700b148b58428d" /><Relationship Type="http://schemas.openxmlformats.org/officeDocument/2006/relationships/notesSlide" Target="/ppt/notesSlides/notesSlide1.xml" Id="Rc6be97ce764040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a8085787b5b494c" /><Relationship Type="http://schemas.openxmlformats.org/officeDocument/2006/relationships/notesSlide" Target="/ppt/notesSlides/notesSlide2.xml" Id="Ref328d0ea2c249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960e192c1c4a62" /><Relationship Type="http://schemas.openxmlformats.org/officeDocument/2006/relationships/notesSlide" Target="/ppt/notesSlides/notesSlide3.xml" Id="Rda19344746cd4f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37f7a3f17a140e3" /><Relationship Type="http://schemas.openxmlformats.org/officeDocument/2006/relationships/notesSlide" Target="/ppt/notesSlides/notesSlide4.xml" Id="R3b985fcb60274a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09c8760d02c4322" /><Relationship Type="http://schemas.openxmlformats.org/officeDocument/2006/relationships/notesSlide" Target="/ppt/notesSlides/notesSlide5.xml" Id="Red3f1d9411f042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7f7ee725ec24a9d" /><Relationship Type="http://schemas.openxmlformats.org/officeDocument/2006/relationships/notesSlide" Target="/ppt/notesSlides/notesSlide6.xml" Id="Rba75ed95215f43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2763ee4f872438f" /><Relationship Type="http://schemas.openxmlformats.org/officeDocument/2006/relationships/notesSlide" Target="/ppt/notesSlides/notesSlide7.xml" Id="Ra7d82bdd2e404e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f644f6228c74152" /><Relationship Type="http://schemas.openxmlformats.org/officeDocument/2006/relationships/notesSlide" Target="/ppt/notesSlides/notesSlide8.xml" Id="Ra78094df904b4d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39d75e4168b46f7" /><Relationship Type="http://schemas.openxmlformats.org/officeDocument/2006/relationships/notesSlide" Target="/ppt/notesSlides/notesSlide9.xml" Id="Refd460bc301541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84dbf715c044a66" /><Relationship Type="http://schemas.openxmlformats.org/officeDocument/2006/relationships/notesSlide" Target="/ppt/notesSlides/notesSlide10.xml" Id="Raa794dbd5288405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d410270e1b64cd6" /><Relationship Type="http://schemas.openxmlformats.org/officeDocument/2006/relationships/notesSlide" Target="/ppt/notesSlides/notesSlide11.xml" Id="R2b374329d1fd42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339e96d4c834ddf" /><Relationship Type="http://schemas.openxmlformats.org/officeDocument/2006/relationships/notesSlide" Target="/ppt/notesSlides/notesSlide12.xml" Id="Rcbc2391769f0421f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e700b148b58428d">
            <a:alphaModFix/>
          </a:blip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DE636-0DE4-4178-990D-07B33CED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ctr">
              <a:lnSpc>
                <a:spcPct val="112000"/>
              </a:lnSpc>
              <a:buNone/>
              <a:defRPr sz="34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Capstone Design Review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17E8F-DA90-4DC5-BB07-4FBF1276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81675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ctr">
              <a:lnSpc>
                <a:spcPct val="112000"/>
              </a:lnSpc>
              <a:buNone/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Research Paper Navigator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D2949-A1CD-4CC3-87B5-81B91EDE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03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ctr">
              <a:lnSpc>
                <a:spcPct val="112000"/>
              </a:lnSpc>
              <a:buNone/>
              <a:defRPr sz="16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Council Wooten III · Final Capstone</a:t>
            </a:r>
          </a:p>
        </p:txBody>
      </p:sp>
    </p:spTree>
    <p:extLst>
      <p:ext uri="{BB962C8B-B14F-4D97-AF65-F5344CB8AC3E}">
        <p14:creationId xmlns:p14="http://schemas.microsoft.com/office/powerpoint/2010/main" val="17197292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official-title">
            <a:extLst xmlns:a="http://schemas.openxmlformats.org/drawingml/2006/main">
              <a:ext uri="{FF2B5EF4-FFF2-40B4-BE49-F238E27FC236}">
                <a16:creationId xmlns:a16="http://schemas.microsoft.com/office/drawing/2014/main" id="{D200A2F8-C934-4BB3-A75F-1B5EAD5E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9A512F"/>
                </a:solidFill>
                <a:latin typeface="Calibri"/>
                <a:ea typeface="Calibri"/>
                <a:cs typeface="Calibri"/>
              </a:rPr>
              <a:t>Designing and Evaluating a Retrieval-Augmented LLM System</a:t>
            </a:r>
          </a:p>
        </p:txBody>
      </p:sp>
      <p:sp>
        <p:nvSpPr>
          <p:cNvPr id="2" name="project">
            <a:extLst xmlns:a="http://schemas.openxmlformats.org/drawingml/2006/main">
              <a:ext uri="{FF2B5EF4-FFF2-40B4-BE49-F238E27FC236}">
                <a16:creationId xmlns:a16="http://schemas.microsoft.com/office/drawing/2014/main" id="{59947E47-0B85-4238-A2A9-4352E708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00" b="1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Research Paper Navigator</a:t>
            </a:r>
          </a:p>
        </p:txBody>
      </p:sp>
      <p:sp>
        <p:nvSpPr>
          <p:cNvPr id="3" name="name-scenario">
            <a:extLst xmlns:a="http://schemas.openxmlformats.org/drawingml/2006/main">
              <a:ext uri="{FF2B5EF4-FFF2-40B4-BE49-F238E27FC236}">
                <a16:creationId xmlns:a16="http://schemas.microsoft.com/office/drawing/2014/main" id="{E8E8DCED-E342-447A-A72F-2B4BAD5E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Council Wooten III</a:t>
            </a:r>
          </a:p>
          <a:p xmlns:a="http://schemas.openxmlformats.org/drawingml/2006/main">
            <a:pPr>
              <a:buNone/>
              <a:defRPr sz="225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Scenario: research-paper retrieval</a:t>
            </a:r>
          </a:p>
        </p:txBody>
      </p:sp>
      <p:sp>
        <p:nvSpPr>
          <p:cNvPr id="4" name="purpose">
            <a:extLst xmlns:a="http://schemas.openxmlformats.org/drawingml/2006/main">
              <a:ext uri="{FF2B5EF4-FFF2-40B4-BE49-F238E27FC236}">
                <a16:creationId xmlns:a16="http://schemas.microsoft.com/office/drawing/2014/main" id="{CBC57389-EC13-40D5-911A-AB92B270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My system helps readers locate and compare research findings</a:t>
            </a:r>
          </a:p>
          <a:p xmlns:a="http://schemas.openxmlformats.org/drawingml/2006/main">
            <a:pPr>
              <a:buNone/>
              <a:defRPr sz="225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by connecting answers to retrieved paper pages.</a:t>
            </a:r>
          </a:p>
        </p:txBody>
      </p:sp>
    </p:spTree>
    <p:extLst>
      <p:ext uri="{BB962C8B-B14F-4D97-AF65-F5344CB8AC3E}">
        <p14:creationId xmlns:p14="http://schemas.microsoft.com/office/powerpoint/2010/main" val="20589599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39E6CE-0C0B-4D15-84B7-FACF6E34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8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ctr">
              <a:lnSpc>
                <a:spcPct val="112000"/>
              </a:lnSpc>
              <a:buNone/>
              <a:defRPr sz="28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96443-FB3E-4E01-BBED-628A7010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47800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25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525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pPr>
            <a:r>
              <a:rPr sz="5250" b="1">
                <a:solidFill>
                  <a:srgbClr val="9A512F"/>
                </a:solidFill>
                <a:latin typeface="Calibri"/>
                <a:ea typeface="Calibri"/>
                <a:cs typeface="Calibri"/>
              </a:rPr>
              <a:t>153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781C98-3818-47FC-B7AA-D9AAAF69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574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225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research PDFs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72ACE-5EC4-4870-9E55-7F344B72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47800"/>
            <a:ext cx="4286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25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525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pPr>
            <a:r>
              <a:rPr sz="5250" b="1">
                <a:solidFill>
                  <a:srgbClr val="9A512F"/>
                </a:solidFill>
                <a:latin typeface="Calibri"/>
                <a:ea typeface="Calibri"/>
                <a:cs typeface="Calibri"/>
              </a:rPr>
              <a:t>6,059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BBAC69-B873-43DB-AA1A-B86444A2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57425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225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readable pages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A18A1-18D9-4D29-B4D1-BD6F0A33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7B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067B1-4939-408C-B57A-DA2504C0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240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9A512F"/>
                </a:solidFill>
                <a:latin typeface="Calibri"/>
                <a:ea typeface="Calibri"/>
                <a:cs typeface="Calibri"/>
              </a:rPr>
              <a:t>Find a reported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0C7D75-5719-46EA-920F-E43B90FB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4775"/>
            <a:ext cx="4857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225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Which paper and page support it?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94E0D-77D8-4890-A03F-BF10D141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242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240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9A512F"/>
                </a:solidFill>
                <a:latin typeface="Calibri"/>
                <a:ea typeface="Calibri"/>
                <a:cs typeface="Calibri"/>
              </a:rPr>
              <a:t>Compare methods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69EA5E-E135-4DC0-AEEF-AAA8C985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14775"/>
            <a:ext cx="4762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225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Does each part have enough evidence?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019B9-5382-4B8D-9C4D-3DF7DE11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225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For readers comparing research findings. Intended value: faster evidence review. Customer time savings remain unmeasured.</a:t>
            </a:r>
          </a:p>
        </p:txBody>
      </p:sp>
    </p:spTree>
    <p:extLst>
      <p:ext uri="{BB962C8B-B14F-4D97-AF65-F5344CB8AC3E}">
        <p14:creationId xmlns:p14="http://schemas.microsoft.com/office/powerpoint/2010/main" val="51005750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C12B86-6F6F-4116-91D4-752D056F8421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239000" y="4829175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5F58"/>
            </a:solidFill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5B94ED-ADF2-4453-BF81-0F3B7DC1F403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000375" y="48291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5F58"/>
            </a:solidFill>
            <a:headEnd type="triangle" w="sm" len="sm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631A5-4689-4240-8DCE-AF43EED04B4C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5548313" y="3333750"/>
            <a:ext cx="0" cy="962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5F58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18897-8946-4BF5-9C29-A9B9524B310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239000" y="2838450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5F58"/>
            </a:solidFill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B9D4F1-4FD5-4BF8-BE14-3EB49B293C62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000375" y="28384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5F58"/>
            </a:solidFill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B40ACF-4447-4A5E-9520-395E3BBA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245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285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9A512F"/>
                </a:solidFill>
                <a:latin typeface="Calibri"/>
                <a:ea typeface="Calibri"/>
                <a:cs typeface="Calibri"/>
              </a:rPr>
              <a:t>The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9E06E-BB69-4517-B469-FA33F4A8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71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25F5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2100" b="0">
                <a:solidFill>
                  <a:srgbClr val="625F58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625F58"/>
                </a:solidFill>
                <a:latin typeface="Calibri"/>
                <a:ea typeface="Calibri"/>
                <a:cs typeface="Calibri"/>
              </a:rPr>
              <a:t>Workflow: PDF page extraction, keyword ranking, bounded model planning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C92A7-F310-4084-8FC2-62619557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2383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4"/>
          </a:solidFill>
          <a:ln xmlns:a="http://schemas.openxmlformats.org/drawingml/2006/main" w="14288">
            <a:solidFill>
              <a:srgbClr val="898176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ctr">
              <a:buNone/>
              <a:defRPr sz="1875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Question</a:t>
            </a:r>
          </a:p>
          <a:p xmlns:a="http://schemas.openxmlformats.org/drawingml/2006/main">
            <a:pPr marL="0" indent="0" algn="ctr">
              <a:buNone/>
              <a:defRPr sz="1875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Input 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11D98-1CFF-4AA4-B2E8-97F26214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43150"/>
            <a:ext cx="33813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4"/>
          </a:solidFill>
          <a:ln xmlns:a="http://schemas.openxmlformats.org/drawingml/2006/main" w="14288">
            <a:solidFill>
              <a:srgbClr val="898176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ctr">
              <a:buNone/>
              <a:defRPr sz="1875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Exact cache lookup</a:t>
            </a:r>
          </a:p>
          <a:p xmlns:a="http://schemas.openxmlformats.org/drawingml/2006/main">
            <a:pPr marL="0" indent="0" algn="ctr">
              <a:buNone/>
              <a:defRPr sz="1875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+ evidence revalidation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DC5A6-AFC9-4B5B-8B11-FF11F71A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43150"/>
            <a:ext cx="2571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4"/>
          </a:solidFill>
          <a:ln xmlns:a="http://schemas.openxmlformats.org/drawingml/2006/main" w="14288">
            <a:solidFill>
              <a:srgbClr val="898176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ctr">
              <a:buNone/>
              <a:defRPr sz="1875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Return cached answer</a:t>
            </a:r>
          </a:p>
          <a:p xmlns:a="http://schemas.openxmlformats.org/drawingml/2006/main">
            <a:pPr marL="0" indent="0" algn="ctr">
              <a:buNone/>
              <a:defRPr sz="1875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No model 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9C231-0E02-41A3-861E-2AE72018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86025"/>
            <a:ext cx="128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625F5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ctr">
              <a:lnSpc>
                <a:spcPct val="112000"/>
              </a:lnSpc>
              <a:buNone/>
              <a:defRPr sz="1725" b="0">
                <a:solidFill>
                  <a:srgbClr val="625F58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625F58"/>
                </a:solidFill>
                <a:latin typeface="Calibri"/>
                <a:ea typeface="Calibri"/>
                <a:cs typeface="Calibri"/>
              </a:rPr>
              <a:t>valid hit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A50838-B372-4B53-A594-19999667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2238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4"/>
          </a:solidFill>
          <a:ln xmlns:a="http://schemas.openxmlformats.org/drawingml/2006/main" w="14288">
            <a:solidFill>
              <a:srgbClr val="898176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ctr">
              <a:buNone/>
              <a:defRPr sz="1875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BM25 search</a:t>
            </a:r>
          </a:p>
          <a:p xmlns:a="http://schemas.openxmlformats.org/drawingml/2006/main">
            <a:pPr marL="0" indent="0" algn="ctr">
              <a:buNone/>
              <a:defRPr sz="1875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PDF pages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F4E111-9C15-49AD-BA8D-0EE5F09E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295775"/>
            <a:ext cx="3381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5"/>
          </a:solidFill>
          <a:ln xmlns:a="http://schemas.openxmlformats.org/drawingml/2006/main" w="14288">
            <a:solidFill>
              <a:srgbClr val="303735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ctr">
              <a:buNone/>
              <a:defRPr sz="187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 planner</a:t>
            </a:r>
          </a:p>
          <a:p xmlns:a="http://schemas.openxmlformats.org/drawingml/2006/main">
            <a:pPr marL="0" indent="0" algn="ctr">
              <a:buNone/>
              <a:defRPr sz="187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Search, open page, or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613FD6-9007-424D-B642-37686C7D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295775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5"/>
          </a:solidFill>
          <a:ln xmlns:a="http://schemas.openxmlformats.org/drawingml/2006/main" w="14288">
            <a:solidFill>
              <a:srgbClr val="303735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ctr">
              <a:buNone/>
              <a:defRPr sz="187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 draft</a:t>
            </a:r>
          </a:p>
          <a:p xmlns:a="http://schemas.openxmlformats.org/drawingml/2006/main">
            <a:pPr marL="0" indent="0" algn="ctr">
              <a:buNone/>
              <a:defRPr sz="187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Then code 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52C1C6-12EB-4F65-B17E-87069971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6861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5F5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1725" b="0">
                <a:solidFill>
                  <a:srgbClr val="625F58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625F58"/>
                </a:solidFill>
                <a:latin typeface="Calibri"/>
                <a:ea typeface="Calibri"/>
                <a:cs typeface="Calibri"/>
              </a:rPr>
              <a:t>miss / invalid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A60535-936E-40C1-9D81-77CCF9CF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552950"/>
            <a:ext cx="742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625F5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ctr">
              <a:lnSpc>
                <a:spcPct val="112000"/>
              </a:lnSpc>
              <a:buNone/>
              <a:defRPr sz="1350" b="0">
                <a:solidFill>
                  <a:srgbClr val="625F5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25F58"/>
                </a:solidFill>
                <a:latin typeface="Calibri"/>
                <a:ea typeface="Calibri"/>
                <a:cs typeface="Calibri"/>
              </a:rPr>
              <a:t>search /</a:t>
            </a:r>
          </a:p>
          <a:p xmlns:a="http://schemas.openxmlformats.org/drawingml/2006/main">
            <a:pPr marL="0" indent="0" algn="ctr">
              <a:lnSpc>
                <a:spcPct val="112000"/>
              </a:lnSpc>
              <a:buNone/>
              <a:defRPr sz="1350" b="0">
                <a:solidFill>
                  <a:srgbClr val="625F5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25F58"/>
                </a:solidFill>
                <a:latin typeface="Calibri"/>
                <a:ea typeface="Calibri"/>
                <a:cs typeface="Calibri"/>
              </a:rPr>
              <a:t>pages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A89270-8A9E-44B7-BDE2-B64CDA18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47675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625F5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ctr">
              <a:lnSpc>
                <a:spcPct val="112000"/>
              </a:lnSpc>
              <a:buNone/>
              <a:defRPr sz="1575" b="0">
                <a:solidFill>
                  <a:srgbClr val="625F58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625F58"/>
                </a:solidFill>
                <a:latin typeface="Calibri"/>
                <a:ea typeface="Calibri"/>
                <a:cs typeface="Calibri"/>
              </a:rPr>
              <a:t>ready /</a:t>
            </a:r>
          </a:p>
          <a:p xmlns:a="http://schemas.openxmlformats.org/drawingml/2006/main">
            <a:pPr marL="0" indent="0" algn="ctr">
              <a:lnSpc>
                <a:spcPct val="112000"/>
              </a:lnSpc>
              <a:buNone/>
              <a:defRPr sz="1575" b="0">
                <a:solidFill>
                  <a:srgbClr val="625F58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625F58"/>
                </a:solidFill>
                <a:latin typeface="Calibri"/>
                <a:ea typeface="Calibri"/>
                <a:cs typeface="Calibri"/>
              </a:rPr>
              <a:t>limit reached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81497B-B96E-48D2-8462-D96D0DC6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3880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195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Bounds: 4 planner actions, 12 pages, up to 3 pages per search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2E678F-D3DA-48FC-9DEA-A44B04AB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25F5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1500" b="0">
                <a:solidFill>
                  <a:srgbClr val="625F5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25F58"/>
                </a:solidFill>
                <a:latin typeface="Calibri"/>
                <a:ea typeface="Calibri"/>
                <a:cs typeface="Calibri"/>
              </a:rPr>
              <a:t>Dark boxes use the model. Light boxes use code. Cache hits recheck the loaded corpus snapshot.</a:t>
            </a:r>
          </a:p>
        </p:txBody>
      </p:sp>
    </p:spTree>
    <p:extLst>
      <p:ext uri="{BB962C8B-B14F-4D97-AF65-F5344CB8AC3E}">
        <p14:creationId xmlns:p14="http://schemas.microsoft.com/office/powerpoint/2010/main" val="328922481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45AC51-9747-48AB-B77B-3298CFED64DC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8191500" y="2724150"/>
            <a:ext cx="2095500" cy="154305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625F58"/>
            </a:solidFill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7F573-44BA-45AD-BC27-DC14EB595D88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4000500" y="426720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5F58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C683C-0CBA-463A-8FF8-F18F7C1981F6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500813" y="2724150"/>
            <a:ext cx="0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5F58"/>
            </a:solidFill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14CFB-3A6F-4911-BCAD-3314C1D52833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8191500" y="217170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5F58"/>
            </a:solidFill>
            <a:tailEnd type="triangle" w="sm" len="sm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3CCF67-9973-4769-80FA-3F0E5880F39A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4000500" y="217170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5F58"/>
            </a:solidFill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F4DB36-15AF-470F-A580-5A931D62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245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285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9A512F"/>
                </a:solidFill>
                <a:latin typeface="Calibri"/>
                <a:ea typeface="Calibri"/>
                <a:cs typeface="Calibri"/>
              </a:rPr>
              <a:t>The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77AB6-C31D-4819-8240-49C97341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238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5"/>
          </a:solidFill>
          <a:ln xmlns:a="http://schemas.openxmlformats.org/drawingml/2006/main" w="14288">
            <a:solidFill>
              <a:srgbClr val="303735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ctr">
              <a:buNone/>
              <a:defRPr sz="187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Structured draft</a:t>
            </a:r>
          </a:p>
          <a:p xmlns:a="http://schemas.openxmlformats.org/drawingml/2006/main">
            <a:pPr marL="0" indent="0" algn="ctr">
              <a:buNone/>
              <a:defRPr sz="187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Claims + IDs + quotations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FCEF9-8F12-4B72-80A6-0FC40E3A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619250"/>
            <a:ext cx="33813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4"/>
          </a:solidFill>
          <a:ln xmlns:a="http://schemas.openxmlformats.org/drawingml/2006/main" w="14288">
            <a:solidFill>
              <a:srgbClr val="898176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ctr">
              <a:buNone/>
              <a:defRPr sz="1875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Code checks</a:t>
            </a:r>
          </a:p>
          <a:p xmlns:a="http://schemas.openxmlformats.org/drawingml/2006/main">
            <a:pPr marL="0" indent="0" algn="ctr">
              <a:buNone/>
              <a:defRPr sz="1875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Retrieved IDs and exact quotes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22EDC6-28E1-4B49-AD8E-B33DC2DD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619250"/>
            <a:ext cx="2571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4"/>
          </a:solidFill>
          <a:ln xmlns:a="http://schemas.openxmlformats.org/drawingml/2006/main" w="14288">
            <a:solidFill>
              <a:srgbClr val="898176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ctr">
              <a:buNone/>
              <a:defRPr sz="1875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Return answer</a:t>
            </a:r>
          </a:p>
          <a:p xmlns:a="http://schemas.openxmlformats.org/drawingml/2006/main">
            <a:pPr marL="0" indent="0" algn="ctr">
              <a:buNone/>
              <a:defRPr sz="1875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Cache if answered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684174-B640-4A78-8AE3-4BA17D25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24050"/>
            <a:ext cx="657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625F5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ctr">
              <a:lnSpc>
                <a:spcPct val="112000"/>
              </a:lnSpc>
              <a:buNone/>
              <a:defRPr sz="1575" b="0">
                <a:solidFill>
                  <a:srgbClr val="625F58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625F58"/>
                </a:solidFill>
                <a:latin typeface="Calibri"/>
                <a:ea typeface="Calibri"/>
                <a:cs typeface="Calibri"/>
              </a:rPr>
              <a:t>pass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842853-3417-4326-82AE-4314EA9E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14750"/>
            <a:ext cx="33813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5"/>
          </a:solidFill>
          <a:ln xmlns:a="http://schemas.openxmlformats.org/drawingml/2006/main" w="14288">
            <a:solidFill>
              <a:srgbClr val="303735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ctr">
              <a:buNone/>
              <a:defRPr sz="187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One model repair</a:t>
            </a:r>
          </a:p>
          <a:p xmlns:a="http://schemas.openxmlformats.org/drawingml/2006/main">
            <a:pPr marL="0" indent="0" algn="ctr">
              <a:buNone/>
              <a:defRPr sz="187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Code checks again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AFCB08-CE82-4CDC-A211-1E52D519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527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5F5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1650" b="0">
                <a:solidFill>
                  <a:srgbClr val="625F58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25F58"/>
                </a:solidFill>
                <a:latin typeface="Calibri"/>
                <a:ea typeface="Calibri"/>
                <a:cs typeface="Calibri"/>
              </a:rPr>
              <a:t>fail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17EA69-F294-4A6C-AA6B-070FF6B3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238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4"/>
          </a:solidFill>
          <a:ln xmlns:a="http://schemas.openxmlformats.org/drawingml/2006/main" w="14288">
            <a:solidFill>
              <a:srgbClr val="898176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ctr">
              <a:buNone/>
              <a:defRPr sz="1875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Withhold answer</a:t>
            </a:r>
          </a:p>
          <a:p xmlns:a="http://schemas.openxmlformats.org/drawingml/2006/main">
            <a:pPr marL="0" indent="0" algn="ctr">
              <a:buNone/>
              <a:defRPr sz="1875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Do not cache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184C0-1914-47BC-9D39-F36EA434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00500"/>
            <a:ext cx="64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625F5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ctr">
              <a:lnSpc>
                <a:spcPct val="112000"/>
              </a:lnSpc>
              <a:buNone/>
              <a:defRPr sz="1500" b="0">
                <a:solidFill>
                  <a:srgbClr val="625F5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25F58"/>
                </a:solidFill>
                <a:latin typeface="Calibri"/>
                <a:ea typeface="Calibri"/>
                <a:cs typeface="Calibri"/>
              </a:rPr>
              <a:t>still fails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56304C-8113-4CBE-955A-C02BAFC0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575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25F5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1575" b="0">
                <a:solidFill>
                  <a:srgbClr val="625F58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625F58"/>
                </a:solidFill>
                <a:latin typeface="Calibri"/>
                <a:ea typeface="Calibri"/>
                <a:cs typeface="Calibri"/>
              </a:rPr>
              <a:t>repair passes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CB91F2-FFFB-4D65-8989-9BB295D4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0542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2175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9A512F"/>
                </a:solidFill>
                <a:latin typeface="Calibri"/>
                <a:ea typeface="Calibri"/>
                <a:cs typeface="Calibri"/>
              </a:rPr>
              <a:t>Citation validation checks source occurrence.</a:t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2175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9A512F"/>
                </a:solidFill>
                <a:latin typeface="Calibri"/>
                <a:ea typeface="Calibri"/>
                <a:cs typeface="Calibri"/>
              </a:rPr>
              <a:t>Human review still assesses factual support and completeness.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29517E-B06D-4F94-980A-0876BB27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25F5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1500" b="0">
                <a:solidFill>
                  <a:srgbClr val="625F5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25F58"/>
                </a:solidFill>
                <a:latin typeface="Calibri"/>
                <a:ea typeface="Calibri"/>
                <a:cs typeface="Calibri"/>
              </a:rPr>
              <a:t>Quotation checks normalize whitespace. Cache: 64 entries, 15-minute expiry, oldest entry removed first.</a:t>
            </a:r>
          </a:p>
        </p:txBody>
      </p:sp>
    </p:spTree>
    <p:extLst>
      <p:ext uri="{BB962C8B-B14F-4D97-AF65-F5344CB8AC3E}">
        <p14:creationId xmlns:p14="http://schemas.microsoft.com/office/powerpoint/2010/main" val="39871534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official-section-heading">
            <a:extLst xmlns:a="http://schemas.openxmlformats.org/drawingml/2006/main">
              <a:ext uri="{FF2B5EF4-FFF2-40B4-BE49-F238E27FC236}">
                <a16:creationId xmlns:a16="http://schemas.microsoft.com/office/drawing/2014/main" id="{F830A615-C823-4AEB-9640-F75A3BB8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245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9A512F"/>
                </a:solidFill>
                <a:latin typeface="Calibri"/>
                <a:ea typeface="Calibri"/>
                <a:cs typeface="Calibri"/>
              </a:rPr>
              <a:t>Retrieval and Evaluation</a:t>
            </a:r>
          </a:p>
        </p:txBody>
      </p:sp>
      <p:sp>
        <p:nvSpPr>
          <p:cNvPr id="2" name="stage-question">
            <a:extLst xmlns:a="http://schemas.openxmlformats.org/drawingml/2006/main">
              <a:ext uri="{FF2B5EF4-FFF2-40B4-BE49-F238E27FC236}">
                <a16:creationId xmlns:a16="http://schemas.microsoft.com/office/drawing/2014/main" id="{2CA682DB-EF4F-4D43-9A4A-3ECEB4A8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23975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Did the evidence fail to arrive, or did the answer mishandle it?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DC750A-711B-4D78-8967-71D0B59DBCF2}"/>
              </a:ext>
            </a:extLst>
          </p:cNvPr>
          <p:cNvGraphicFramePr/>
          <p:nvPr/>
        </p:nvGraphicFramePr>
        <p:xfrm>
          <a:off xmlns:a="http://schemas.openxmlformats.org/drawingml/2006/main" x="762000" y="1943100"/>
          <a:ext xmlns:a="http://schemas.openxmlformats.org/drawingml/2006/main" cx="106680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476750"/>
                <a:gridCol w="4381500"/>
              </a:tblGrid>
              <a:tr h="6318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9A51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the saved evidence shows</a:t>
                      </a:r>
                    </a:p>
                  </a:txBody>
                  <a:tcPr marL="91440" marR="91440" marT="45720" marB="45720">
                    <a:solidFill>
                      <a:srgbClr val="9A51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 not establish</a:t>
                      </a:r>
                    </a:p>
                  </a:txBody>
                  <a:tcPr marL="91440" marR="91440" marT="45720" marB="45720">
                    <a:solidFill>
                      <a:srgbClr val="9A512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Ingestion</a:t>
                      </a:r>
                    </a:p>
                  </a:txBody>
                  <a:tcPr marL="91440" marR="91440" marT="45720" marB="45720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153 PDFs, 6,059 readable pages.</a:t>
                      </a:r>
                    </a:p>
                    <a:p>
                      <a:r>
                        <a:rPr sz="180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Extraction warning observed.</a:t>
                      </a:r>
                    </a:p>
                  </a:txBody>
                  <a:tcPr marL="91440" marR="91440" marT="45720" marB="45720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Complete extraction of every</a:t>
                      </a:r>
                    </a:p>
                    <a:p>
                      <a:r>
                        <a:rPr sz="180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table, figure, or passage.</a:t>
                      </a:r>
                    </a:p>
                  </a:txBody>
                  <a:tcPr marL="91440" marR="91440" marT="45720" marB="45720">
                    <a:solidFill>
                      <a:srgbClr val="F0ECE4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Retrieval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B0: identical baseline/cold pages.</a:t>
                      </a:r>
                    </a:p>
                    <a:p>
                      <a:r>
                        <a:rPr sz="180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Key supporting pages present.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Aggregate retrieval precision,</a:t>
                      </a:r>
                    </a:p>
                    <a:p>
                      <a:r>
                        <a:rPr sz="180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recall, or ranking quality.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Answers</a:t>
                      </a:r>
                    </a:p>
                  </a:txBody>
                  <a:tcPr marL="91440" marR="91440" marT="45720" marB="45720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5/6 baseline and 5/6 guarded.</a:t>
                      </a:r>
                    </a:p>
                    <a:p>
                      <a:r>
                        <a:rPr sz="180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A3 improves. B0 becomes a refusal.</a:t>
                      </a:r>
                    </a:p>
                  </a:txBody>
                  <a:tcPr marL="91440" marR="91440" marT="45720" marB="45720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General accuracy improvement</a:t>
                      </a:r>
                    </a:p>
                    <a:p>
                      <a:r>
                        <a:rPr sz="180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or independent grading.</a:t>
                      </a:r>
                    </a:p>
                  </a:txBody>
                  <a:tcPr marL="91440" marR="91440" marT="45720" marB="45720">
                    <a:solidFill>
                      <a:srgbClr val="F0ECE4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Software checks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19 offline checks pass.</a:t>
                      </a:r>
                    </a:p>
                    <a:p>
                      <a:r>
                        <a:rPr sz="180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Validation, cache, repair, usage.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A security success rate or</a:t>
                      </a:r>
                    </a:p>
                    <a:p>
                      <a:r>
                        <a:rPr sz="180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retrieval-quality score.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Efficiency</a:t>
                      </a:r>
                    </a:p>
                  </a:txBody>
                  <a:tcPr marL="91440" marR="91440" marT="45720" marB="45720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14 recorded requests.</a:t>
                      </a:r>
                    </a:p>
                    <a:p>
                      <a:r>
                        <a:rPr sz="180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Calls, tokens, and request time.</a:t>
                      </a:r>
                    </a:p>
                  </a:txBody>
                  <a:tcPr marL="91440" marR="91440" marT="45720" marB="45720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Repeated-run reliability or</a:t>
                      </a:r>
                    </a:p>
                    <a:p>
                      <a:r>
                        <a:rPr sz="180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verified billed-dollar savings.</a:t>
                      </a:r>
                    </a:p>
                  </a:txBody>
                  <a:tcPr marL="91440" marR="91440" marT="45720" marB="45720">
                    <a:solidFill>
                      <a:srgbClr val="F0ECE4"/>
                    </a:solidFill>
                  </a:tcPr>
                </a:tc>
              </a:tr>
            </a:tbl>
          </a:graphicData>
        </a:graphic>
      </p:graphicFrame>
      <p:sp>
        <p:nvSpPr>
          <p:cNvPr id="4" name="evaluation-scope">
            <a:extLst xmlns:a="http://schemas.openxmlformats.org/drawingml/2006/main">
              <a:ext uri="{FF2B5EF4-FFF2-40B4-BE49-F238E27FC236}">
                <a16:creationId xmlns:a16="http://schemas.microsoft.com/office/drawing/2014/main" id="{440867E5-4566-495F-9D2B-D38870C8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Six development cases, two exact repeats. Answer ratings come from assistant review of saved evidence.</a:t>
            </a:r>
          </a:p>
        </p:txBody>
      </p:sp>
    </p:spTree>
    <p:extLst>
      <p:ext uri="{BB962C8B-B14F-4D97-AF65-F5344CB8AC3E}">
        <p14:creationId xmlns:p14="http://schemas.microsoft.com/office/powerpoint/2010/main" val="46129099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7AED0E-99C4-499A-B32D-0E924D77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245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285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9A512F"/>
                </a:solidFill>
                <a:latin typeface="Calibri"/>
                <a:ea typeface="Calibri"/>
                <a:cs typeface="Calibri"/>
              </a:rPr>
              <a:t>Retrieval and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7E910-CA61-405A-8289-8799EC84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71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210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A3: fabricated-source attack</a:t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210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The guarded answer uses real retrieved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CFE17B-8C05-45FE-83E4-87905B41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717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625F5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2400" b="1">
                <a:solidFill>
                  <a:srgbClr val="625F58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625F58"/>
                </a:solidFill>
                <a:latin typeface="Calibri"/>
                <a:ea typeface="Calibri"/>
                <a:cs typeface="Calibri"/>
              </a:rPr>
              <a:t>Baseline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7E179-3923-431B-94C3-A043076B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85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585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pPr>
            <a:r>
              <a:rPr sz="5850" b="1">
                <a:solidFill>
                  <a:srgbClr val="9A512F"/>
                </a:solidFill>
                <a:latin typeface="Calibri"/>
                <a:ea typeface="Calibri"/>
                <a:cs typeface="Calibri"/>
              </a:rPr>
              <a:t>17.3%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D8A74-D8E2-40B3-96F7-92D6EA41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48577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225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Repeated the planted claim</a:t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225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Retrieved no pages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52601-2C7F-48F3-8C4C-BF537F62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717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3037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2400" b="1">
                <a:solidFill>
                  <a:srgbClr val="303735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303735"/>
                </a:solidFill>
                <a:latin typeface="Calibri"/>
                <a:ea typeface="Calibri"/>
                <a:cs typeface="Calibri"/>
              </a:rPr>
              <a:t>Guarded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CBBF8-2571-4A9D-ABCD-8116DA86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05125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850" b="1">
                <a:solidFill>
                  <a:srgbClr val="3037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5850" b="1">
                <a:solidFill>
                  <a:srgbClr val="303735"/>
                </a:solidFill>
                <a:latin typeface="Calibri"/>
                <a:ea typeface="Calibri"/>
                <a:cs typeface="Calibri"/>
              </a:defRPr>
            </a:pPr>
            <a:r>
              <a:rPr sz="5850" b="1">
                <a:solidFill>
                  <a:srgbClr val="303735"/>
                </a:solidFill>
                <a:latin typeface="Calibri"/>
                <a:ea typeface="Calibri"/>
                <a:cs typeface="Calibri"/>
              </a:rPr>
              <a:t>&gt;90%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9ED01-ABC8-49F7-B0B9-BEC61377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8577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225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Used a real paper and page</a:t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225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Returned its supported finding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9BB70A-4423-46B2-99AF-64F1B950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1066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2025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9A512F"/>
                </a:solidFill>
                <a:latin typeface="Calibri"/>
                <a:ea typeface="Calibri"/>
                <a:cs typeface="Calibri"/>
              </a:rPr>
              <a:t>These percentages are claims about SPARLING, not system accuracy.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8DA9F-2542-467E-BF25-F2958CC7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25F5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1500" b="0">
                <a:solidFill>
                  <a:srgbClr val="625F5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25F58"/>
                </a:solidFill>
                <a:latin typeface="Calibri"/>
                <a:ea typeface="Calibri"/>
                <a:cs typeface="Calibri"/>
              </a:rPr>
              <a:t>Evaluation: 6 baseline + 6 guarded cold + 2 repeats. 19 offline checks. One run does not establish a security rate.</a:t>
            </a:r>
          </a:p>
        </p:txBody>
      </p:sp>
    </p:spTree>
    <p:extLst>
      <p:ext uri="{BB962C8B-B14F-4D97-AF65-F5344CB8AC3E}">
        <p14:creationId xmlns:p14="http://schemas.microsoft.com/office/powerpoint/2010/main" val="68490748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B3CC3-47DA-49F5-BD64-BBE2A059D6B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905750" y="300513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5F58"/>
            </a:solidFill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AC975-1B32-448C-8231-F934D0975A37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048125" y="3005138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5F58"/>
            </a:solidFill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FFA2D7-5AC4-4355-A830-290A75DE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245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285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9A512F"/>
                </a:solidFill>
                <a:latin typeface="Calibri"/>
                <a:ea typeface="Calibri"/>
                <a:cs typeface="Calibri"/>
              </a:rPr>
              <a:t>Retrieval and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A8BDC-7F70-4B6D-8F7E-2359766F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620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210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B0: comparing two papers</a:t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210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Relevant evidence arrived, but quotation validation rejected the answer.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19366-8943-4540-88C6-95D91BFF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32861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4"/>
          </a:solidFill>
          <a:ln xmlns:a="http://schemas.openxmlformats.org/drawingml/2006/main" w="14288">
            <a:solidFill>
              <a:srgbClr val="898176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ctr">
              <a:buNone/>
              <a:defRPr sz="1875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Same five retrieved pages</a:t>
            </a:r>
          </a:p>
          <a:p xmlns:a="http://schemas.openxmlformats.org/drawingml/2006/main">
            <a:pPr marL="0" indent="0" algn="ctr">
              <a:buNone/>
              <a:defRPr sz="1875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Baseline vs guarded cold</a:t>
            </a:r>
          </a:p>
          <a:p xmlns:a="http://schemas.openxmlformats.org/drawingml/2006/main">
            <a:pPr marL="0" indent="0" algn="ctr">
              <a:buNone/>
              <a:defRPr sz="1875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Key support present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27518-0D68-4E09-AF90-FCECBDDA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57450"/>
            <a:ext cx="3333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5"/>
          </a:solidFill>
          <a:ln xmlns:a="http://schemas.openxmlformats.org/drawingml/2006/main" w="14288">
            <a:solidFill>
              <a:srgbClr val="303735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ctr">
              <a:buNone/>
              <a:defRPr sz="187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 alters quote text</a:t>
            </a:r>
          </a:p>
          <a:p xmlns:a="http://schemas.openxmlformats.org/drawingml/2006/main">
            <a:pPr marL="0" indent="0" algn="ctr">
              <a:buNone/>
              <a:defRPr sz="187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Draft and repair rejected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EB99A-0FEB-447D-B5C6-70C51E54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57450"/>
            <a:ext cx="2952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4"/>
          </a:solidFill>
          <a:ln xmlns:a="http://schemas.openxmlformats.org/drawingml/2006/main" w="14288">
            <a:solidFill>
              <a:srgbClr val="898176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ctr">
              <a:buNone/>
              <a:defRPr sz="1875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Guarded answer</a:t>
            </a:r>
          </a:p>
          <a:p xmlns:a="http://schemas.openxmlformats.org/drawingml/2006/main">
            <a:pPr marL="0" indent="0" algn="ctr">
              <a:buNone/>
              <a:defRPr sz="1875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Withheld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83B510-AC3E-41DB-8119-182CAEB9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4667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225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9A512F"/>
                </a:solidFill>
                <a:latin typeface="Calibri"/>
                <a:ea typeface="Calibri"/>
                <a:cs typeface="Calibri"/>
              </a:rPr>
              <a:t>Observed mismatch examples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9078A-2494-45BE-A6C4-BBE141B6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2175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Capitalization, spacing,</a:t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2175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PDF hyphenation and ligatures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0E2F16-018D-4579-9111-C32BDC72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19550"/>
            <a:ext cx="4667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225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9A512F"/>
                </a:solidFill>
                <a:latin typeface="Calibri"/>
                <a:ea typeface="Calibri"/>
                <a:cs typeface="Calibri"/>
              </a:rPr>
              <a:t>Failure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50BD27-D27E-4288-97FC-B80D2BA1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7200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2175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Generation and validation</a:t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2175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Relevant evidence was available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2B26E-A5DC-40CC-B423-D2C033C3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25F5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1500" b="0">
                <a:solidFill>
                  <a:srgbClr val="625F5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25F58"/>
                </a:solidFill>
                <a:latin typeface="Calibri"/>
                <a:ea typeface="Calibri"/>
                <a:cs typeface="Calibri"/>
              </a:rPr>
              <a:t>Next test: extract source spans or narrowly normalize PDF artifacts while preserving number and negation checks.</a:t>
            </a:r>
          </a:p>
        </p:txBody>
      </p:sp>
    </p:spTree>
    <p:extLst>
      <p:ext uri="{BB962C8B-B14F-4D97-AF65-F5344CB8AC3E}">
        <p14:creationId xmlns:p14="http://schemas.microsoft.com/office/powerpoint/2010/main" val="204004349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23A4CD-6A8D-4279-AB81-48189AE9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245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285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9A512F"/>
                </a:solidFill>
                <a:latin typeface="Calibri"/>
                <a:ea typeface="Calibri"/>
                <a:cs typeface="Calibri"/>
              </a:rPr>
              <a:t>Retrieval and Evaluation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0DA90-00C3-4D03-821F-2B63435AEAFC}"/>
              </a:ext>
            </a:extLst>
          </p:cNvPr>
          <p:cNvGraphicFramePr/>
          <p:nvPr/>
        </p:nvGraphicFramePr>
        <p:xfrm>
          <a:off xmlns:a="http://schemas.openxmlformats.org/drawingml/2006/main" x="762000" y="1504950"/>
          <a:ext xmlns:a="http://schemas.openxmlformats.org/drawingml/2006/main" cx="106680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1666875"/>
                <a:gridCol w="1285875"/>
                <a:gridCol w="2524125"/>
              </a:tblGrid>
              <a:tr h="590550">
                <a:tc>
                  <a:txBody>
                    <a:bodyPr lIns="114300" tIns="114300" rIns="114300" bIns="114300"/>
                    <a:lstStyle/>
                    <a:p>
                      <a:pPr marL="0" indent="0"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Matched workload</a:t>
                      </a:r>
                    </a:p>
                  </a:txBody>
                  <a:tcPr marL="91440" marR="91440" marT="45720" marB="45720" anchor="ctr">
                    <a:solidFill>
                      <a:srgbClr val="9A512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marL="0" indent="0"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Seconds</a:t>
                      </a:r>
                    </a:p>
                  </a:txBody>
                  <a:tcPr marL="91440" marR="91440" marT="45720" marB="45720" anchor="ctr">
                    <a:solidFill>
                      <a:srgbClr val="9A512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marL="0" indent="0"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Calls</a:t>
                      </a:r>
                    </a:p>
                  </a:txBody>
                  <a:tcPr marL="91440" marR="91440" marT="45720" marB="45720" anchor="ctr">
                    <a:solidFill>
                      <a:srgbClr val="9A512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marL="0" indent="0"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Chat tokens</a:t>
                      </a:r>
                    </a:p>
                  </a:txBody>
                  <a:tcPr marL="91440" marR="91440" marT="45720" marB="45720" anchor="ctr">
                    <a:solidFill>
                      <a:srgbClr val="9A512F"/>
                    </a:solidFill>
                  </a:tcPr>
                </a:tc>
              </a:tr>
              <a:tr h="590550">
                <a:tc>
                  <a:txBody>
                    <a:bodyPr lIns="114300" tIns="114300" rIns="114300" bIns="114300"/>
                    <a:lstStyle/>
                    <a:p>
                      <a:pPr marL="0" indent="0" algn="l">
                        <a:buNone/>
                      </a:pPr>
                      <a:r>
                        <a:rPr sz="195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Six baseline questions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marL="0" indent="0" algn="l">
                        <a:buNone/>
                      </a:pPr>
                      <a:r>
                        <a:rPr sz="195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23.078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marL="0" indent="0" algn="l">
                        <a:buNone/>
                      </a:pPr>
                      <a:r>
                        <a:rPr sz="195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marL="0" indent="0" algn="l">
                        <a:buNone/>
                      </a:pPr>
                      <a:r>
                        <a:rPr sz="195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28,021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114300" rIns="114300" bIns="114300"/>
                    <a:lstStyle/>
                    <a:p>
                      <a:pPr marL="0" indent="0" algn="l">
                        <a:buNone/>
                      </a:pPr>
                      <a:r>
                        <a:rPr sz="195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Six guarded cold questions</a:t>
                      </a:r>
                    </a:p>
                  </a:txBody>
                  <a:tcPr marL="91440" marR="91440" marT="45720" marB="45720" anchor="ctr">
                    <a:solidFill>
                      <a:srgbClr val="F0ECE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marL="0" indent="0" algn="l">
                        <a:buNone/>
                      </a:pPr>
                      <a:r>
                        <a:rPr sz="195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30.920</a:t>
                      </a:r>
                    </a:p>
                  </a:txBody>
                  <a:tcPr marL="91440" marR="91440" marT="45720" marB="45720" anchor="ctr">
                    <a:solidFill>
                      <a:srgbClr val="F0ECE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marL="0" indent="0" algn="l">
                        <a:buNone/>
                      </a:pPr>
                      <a:r>
                        <a:rPr sz="195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0ECE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marL="0" indent="0" algn="l">
                        <a:buNone/>
                      </a:pPr>
                      <a:r>
                        <a:rPr sz="195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45,386</a:t>
                      </a:r>
                    </a:p>
                  </a:txBody>
                  <a:tcPr marL="91440" marR="91440" marT="45720" marB="45720" anchor="ctr">
                    <a:solidFill>
                      <a:srgbClr val="F0ECE4"/>
                    </a:solidFill>
                  </a:tcPr>
                </a:tc>
              </a:tr>
              <a:tr h="590550">
                <a:tc>
                  <a:txBody>
                    <a:bodyPr lIns="114300" tIns="114300" rIns="114300" bIns="114300"/>
                    <a:lstStyle/>
                    <a:p>
                      <a:pPr marL="0" indent="0" algn="l">
                        <a:buNone/>
                      </a:pPr>
                      <a:r>
                        <a:rPr sz="195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A0/B0 baseline pair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marL="0" indent="0" algn="l">
                        <a:buNone/>
                      </a:pPr>
                      <a:r>
                        <a:rPr sz="195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11.080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marL="0" indent="0" algn="l">
                        <a:buNone/>
                      </a:pPr>
                      <a:r>
                        <a:rPr sz="195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marL="0" indent="0" algn="l">
                        <a:buNone/>
                      </a:pPr>
                      <a:r>
                        <a:rPr sz="195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17,332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114300" rIns="114300" bIns="114300"/>
                    <a:lstStyle/>
                    <a:p>
                      <a:pPr marL="0" indent="0" algn="l">
                        <a:buNone/>
                      </a:pPr>
                      <a:r>
                        <a:rPr sz="195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A0/B0 guarded repeats</a:t>
                      </a:r>
                    </a:p>
                  </a:txBody>
                  <a:tcPr marL="91440" marR="91440" marT="45720" marB="45720" anchor="ctr">
                    <a:solidFill>
                      <a:srgbClr val="F0ECE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marL="0" indent="0" algn="l">
                        <a:buNone/>
                      </a:pPr>
                      <a:r>
                        <a:rPr sz="195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15.172</a:t>
                      </a:r>
                    </a:p>
                  </a:txBody>
                  <a:tcPr marL="91440" marR="91440" marT="45720" marB="45720" anchor="ctr">
                    <a:solidFill>
                      <a:srgbClr val="F0ECE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marL="0" indent="0" algn="l">
                        <a:buNone/>
                      </a:pPr>
                      <a:r>
                        <a:rPr sz="195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0ECE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marL="0" indent="0" algn="l">
                        <a:buNone/>
                      </a:pPr>
                      <a:r>
                        <a:rPr sz="195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20,672</a:t>
                      </a:r>
                    </a:p>
                  </a:txBody>
                  <a:tcPr marL="91440" marR="91440" marT="45720" marB="45720" anchor="ctr">
                    <a:solidFill>
                      <a:srgbClr val="F0ECE4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F4E04-7C43-496D-9B35-6B96DD8A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3037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2325" b="1">
                <a:solidFill>
                  <a:srgbClr val="303735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303735"/>
                </a:solidFill>
                <a:latin typeface="Calibri"/>
                <a:ea typeface="Calibri"/>
                <a:cs typeface="Calibri"/>
              </a:rPr>
              <a:t>A0: one valid cache hit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893C2-AC00-480B-9B00-1657ACA8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2025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0.008214 seconds</a:t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2025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0 model calls, 0 chat tokens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C15A3-9D25-4808-8913-664162FB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958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2325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9A512F"/>
                </a:solidFill>
                <a:latin typeface="Calibri"/>
                <a:ea typeface="Calibri"/>
                <a:cs typeface="Calibri"/>
              </a:rPr>
              <a:t>B0 stayed uncached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10DE29-B235-4D86-B272-146CB800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9115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2025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Its answer never passed validation.</a:t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2025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The repeat retried the full workflow.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83D97-A8D0-4942-93CB-193F70BC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25F5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1500" b="0">
                <a:solidFill>
                  <a:srgbClr val="625F5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25F58"/>
                </a:solidFill>
                <a:latin typeface="Calibri"/>
                <a:ea typeface="Calibri"/>
                <a:cs typeface="Calibri"/>
              </a:rPr>
              <a:t>Recorded request time excludes corpus setup. Exact matching misses paraphrases. No billed-dollar savings claimed.</a:t>
            </a:r>
          </a:p>
        </p:txBody>
      </p:sp>
    </p:spTree>
    <p:extLst>
      <p:ext uri="{BB962C8B-B14F-4D97-AF65-F5344CB8AC3E}">
        <p14:creationId xmlns:p14="http://schemas.microsoft.com/office/powerpoint/2010/main" val="393748619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official-section-heading">
            <a:extLst xmlns:a="http://schemas.openxmlformats.org/drawingml/2006/main">
              <a:ext uri="{FF2B5EF4-FFF2-40B4-BE49-F238E27FC236}">
                <a16:creationId xmlns:a16="http://schemas.microsoft.com/office/drawing/2014/main" id="{D8BFFEEB-6718-4DD0-B404-DD74E70D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245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9A512F"/>
                </a:solidFill>
                <a:latin typeface="Calibri"/>
                <a:ea typeface="Calibri"/>
                <a:cs typeface="Calibri"/>
              </a:rPr>
              <a:t>Engineering Decisions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92732-1A78-42E0-B699-E5CFCDD23E9A}"/>
              </a:ext>
            </a:extLst>
          </p:cNvPr>
          <p:cNvGraphicFramePr/>
          <p:nvPr/>
        </p:nvGraphicFramePr>
        <p:xfrm>
          <a:off xmlns:a="http://schemas.openxmlformats.org/drawingml/2006/main" x="762000" y="1657350"/>
          <a:ext xmlns:a="http://schemas.openxmlformats.org/drawingml/2006/main" cx="10668000" cy="3390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000500"/>
                <a:gridCol w="4572000"/>
              </a:tblGrid>
              <a:tr h="8477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Choice</a:t>
                      </a:r>
                    </a:p>
                  </a:txBody>
                  <a:tcPr marL="91440" marR="91440" marT="45720" marB="45720">
                    <a:solidFill>
                      <a:srgbClr val="9A51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Why this approach</a:t>
                      </a:r>
                    </a:p>
                  </a:txBody>
                  <a:tcPr marL="91440" marR="91440" marT="45720" marB="45720">
                    <a:solidFill>
                      <a:srgbClr val="9A51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Alternative and trade-off</a:t>
                      </a:r>
                    </a:p>
                  </a:txBody>
                  <a:tcPr marL="91440" marR="91440" marT="45720" marB="45720">
                    <a:solidFill>
                      <a:srgbClr val="9A512F"/>
                    </a:solidFill>
                  </a:tcPr>
                </a:tc>
              </a:tr>
              <a:tr h="8477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BM25 with a</a:t>
                      </a:r>
                    </a:p>
                    <a:p>
                      <a:r>
                        <a:rPr sz="1875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bounded agent</a:t>
                      </a:r>
                    </a:p>
                  </a:txBody>
                  <a:tcPr marL="91440" marR="91440" marT="45720" marB="45720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Retain the existing retrieval baseline.</a:t>
                      </a:r>
                    </a:p>
                    <a:p>
                      <a:r>
                        <a:rPr sz="1875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Limit actions and evidence volume.</a:t>
                      </a:r>
                    </a:p>
                  </a:txBody>
                  <a:tcPr marL="91440" marR="91440" marT="45720" marB="45720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Vector or hybrid retrieval needs its own</a:t>
                      </a:r>
                    </a:p>
                    <a:p>
                      <a:r>
                        <a:rPr sz="1875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comparison. Keyword matching can</a:t>
                      </a:r>
                    </a:p>
                    <a:p>
                      <a:r>
                        <a:rPr sz="1875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miss conceptual paraphrases.</a:t>
                      </a:r>
                    </a:p>
                  </a:txBody>
                  <a:tcPr marL="91440" marR="91440" marT="45720" marB="45720">
                    <a:solidFill>
                      <a:srgbClr val="F0ECE4"/>
                    </a:solidFill>
                  </a:tcPr>
                </a:tc>
              </a:tr>
              <a:tr h="8477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Retrieved IDs +</a:t>
                      </a:r>
                    </a:p>
                    <a:p>
                      <a:r>
                        <a:rPr sz="1875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verbatim quotes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Make source checks inspectable</a:t>
                      </a:r>
                    </a:p>
                    <a:p>
                      <a:r>
                        <a:rPr sz="1875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without another model judge.</a:t>
                      </a:r>
                    </a:p>
                    <a:p>
                      <a:r>
                        <a:rPr sz="1875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One repair, then withhold.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A model judge may assess meaning</a:t>
                      </a:r>
                    </a:p>
                    <a:p>
                      <a:r>
                        <a:rPr sz="1875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but adds calls and judge error. Strict</a:t>
                      </a:r>
                    </a:p>
                    <a:p>
                      <a:r>
                        <a:rPr sz="1875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matching rejected the useful B0 answer.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477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Exact-question</a:t>
                      </a:r>
                    </a:p>
                    <a:p>
                      <a:r>
                        <a:rPr sz="1875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answer cache</a:t>
                      </a:r>
                    </a:p>
                  </a:txBody>
                  <a:tcPr marL="91440" marR="91440" marT="45720" marB="45720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Revalidate stored evidence in code.</a:t>
                      </a:r>
                    </a:p>
                    <a:p>
                      <a:r>
                        <a:rPr sz="1875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A0 repeat used zero model calls.</a:t>
                      </a:r>
                    </a:p>
                  </a:txBody>
                  <a:tcPr marL="91440" marR="91440" marT="45720" marB="45720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Semantic matching could reuse more</a:t>
                      </a:r>
                    </a:p>
                    <a:p>
                      <a:r>
                        <a:rPr sz="1875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questions. Exact matching misses</a:t>
                      </a:r>
                    </a:p>
                    <a:p>
                      <a:r>
                        <a:rPr sz="1875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paraphrases, and B0 stays uncached.</a:t>
                      </a:r>
                    </a:p>
                  </a:txBody>
                  <a:tcPr marL="91440" marR="91440" marT="45720" marB="45720">
                    <a:solidFill>
                      <a:srgbClr val="F0ECE4"/>
                    </a:solidFill>
                  </a:tcPr>
                </a:tc>
              </a:tr>
            </a:tbl>
          </a:graphicData>
        </a:graphic>
      </p:graphicFrame>
      <p:sp>
        <p:nvSpPr>
          <p:cNvPr id="3" name="choice-scope">
            <a:extLst xmlns:a="http://schemas.openxmlformats.org/drawingml/2006/main">
              <a:ext uri="{FF2B5EF4-FFF2-40B4-BE49-F238E27FC236}">
                <a16:creationId xmlns:a16="http://schemas.microsoft.com/office/drawing/2014/main" id="{12B40346-4229-454E-A149-AEE5D74F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9A512F"/>
                </a:solidFill>
                <a:latin typeface="Calibri"/>
                <a:ea typeface="Calibri"/>
                <a:cs typeface="Calibri"/>
              </a:rPr>
              <a:t>Selected for this controlled course experiment.</a:t>
            </a:r>
          </a:p>
          <a:p xmlns:a="http://schemas.openxmlformats.org/drawingml/2006/main">
            <a:pPr>
              <a:buNone/>
              <a:defRPr sz="2025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9A512F"/>
                </a:solidFill>
                <a:latin typeface="Calibri"/>
                <a:ea typeface="Calibri"/>
                <a:cs typeface="Calibri"/>
              </a:rPr>
              <a:t>The final comparison does not establish which alternative is best.</a:t>
            </a:r>
          </a:p>
        </p:txBody>
      </p:sp>
    </p:spTree>
    <p:extLst>
      <p:ext uri="{BB962C8B-B14F-4D97-AF65-F5344CB8AC3E}">
        <p14:creationId xmlns:p14="http://schemas.microsoft.com/office/powerpoint/2010/main" val="41718137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04936-1DDA-4F84-8970-A81EBABE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245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285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pPr>
            <a:r>
              <a:rPr sz="2775" b="1">
                <a:solidFill>
                  <a:srgbClr val="9A512F"/>
                </a:solidFill>
                <a:latin typeface="Calibri"/>
                <a:ea typeface="Calibri"/>
                <a:cs typeface="Calibri"/>
              </a:rPr>
              <a:t>Limitations and Future Improvements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F328E-5BA0-41E2-83E2-BB11482FED13}"/>
              </a:ext>
            </a:extLst>
          </p:cNvPr>
          <p:cNvGraphicFramePr/>
          <p:nvPr/>
        </p:nvGraphicFramePr>
        <p:xfrm>
          <a:off xmlns:a="http://schemas.openxmlformats.org/drawingml/2006/main" x="762000" y="1562100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143375"/>
                <a:gridCol w="4333875"/>
              </a:tblGrid>
              <a:tr h="785813">
                <a:tc>
                  <a:txBody>
                    <a:bodyPr lIns="114300" tIns="114300" rIns="114300" bIns="114300"/>
                    <a:lstStyle/>
                    <a:p>
                      <a:pPr marL="0" indent="0"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Priority</a:t>
                      </a:r>
                    </a:p>
                  </a:txBody>
                  <a:tcPr marL="91440" marR="91440" marT="45720" marB="45720" anchor="ctr">
                    <a:solidFill>
                      <a:srgbClr val="9A512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marL="0" indent="0"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Change to test</a:t>
                      </a:r>
                    </a:p>
                  </a:txBody>
                  <a:tcPr marL="91440" marR="91440" marT="45720" marB="45720" anchor="ctr">
                    <a:solidFill>
                      <a:srgbClr val="9A512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marL="0" indent="0"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Evidence of improvement</a:t>
                      </a:r>
                    </a:p>
                  </a:txBody>
                  <a:tcPr marL="91440" marR="91440" marT="45720" marB="45720" anchor="ctr">
                    <a:solidFill>
                      <a:srgbClr val="9A512F"/>
                    </a:solidFill>
                  </a:tcPr>
                </a:tc>
              </a:tr>
              <a:tr h="785813">
                <a:tc>
                  <a:txBody>
                    <a:bodyPr lIns="114300" tIns="114300" rIns="114300" bIns="114300"/>
                    <a:lstStyle/>
                    <a:p>
                      <a:pPr marL="0" indent="0" algn="l">
                        <a:buNone/>
                      </a:pPr>
                      <a:r>
                        <a:rPr sz="195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Quote fidelity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marL="0" indent="0" algn="l">
                        <a:buNone/>
                      </a:pPr>
                      <a:r>
                        <a:rPr sz="195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Source spans or narrow normalization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marL="0" indent="0" algn="l">
                        <a:buNone/>
                      </a:pPr>
                      <a:r>
                        <a:rPr sz="195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Fewer false rejections with altered facts rejected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 lIns="114300" tIns="114300" rIns="114300" bIns="114300"/>
                    <a:lstStyle/>
                    <a:p>
                      <a:pPr marL="0" indent="0" algn="l">
                        <a:buNone/>
                      </a:pPr>
                      <a:r>
                        <a:rPr sz="195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Answer quality</a:t>
                      </a:r>
                    </a:p>
                  </a:txBody>
                  <a:tcPr marL="91440" marR="91440" marT="45720" marB="45720" anchor="ctr">
                    <a:solidFill>
                      <a:srgbClr val="F0ECE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marL="0" indent="0" algn="l">
                        <a:buNone/>
                      </a:pPr>
                      <a:r>
                        <a:rPr sz="195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Held-out questions and repeated runs</a:t>
                      </a:r>
                    </a:p>
                  </a:txBody>
                  <a:tcPr marL="91440" marR="91440" marT="45720" marB="45720" anchor="ctr">
                    <a:solidFill>
                      <a:srgbClr val="F0ECE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marL="0" indent="0" algn="l">
                        <a:buNone/>
                      </a:pPr>
                      <a:r>
                        <a:rPr sz="195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Supported, complete answers and total latency</a:t>
                      </a:r>
                    </a:p>
                  </a:txBody>
                  <a:tcPr marL="91440" marR="91440" marT="45720" marB="45720" anchor="ctr">
                    <a:solidFill>
                      <a:srgbClr val="F0ECE4"/>
                    </a:solidFill>
                  </a:tcPr>
                </a:tc>
              </a:tr>
              <a:tr h="785813">
                <a:tc>
                  <a:txBody>
                    <a:bodyPr lIns="114300" tIns="114300" rIns="114300" bIns="114300"/>
                    <a:lstStyle/>
                    <a:p>
                      <a:pPr marL="0" indent="0" algn="l">
                        <a:buNone/>
                      </a:pPr>
                      <a:r>
                        <a:rPr sz="195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Pilot controls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marL="0" indent="0" algn="l">
                        <a:buNone/>
                      </a:pPr>
                      <a:r>
                        <a:rPr sz="195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Authorization and document freshness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marL="0" indent="0" algn="l">
                        <a:buNone/>
                      </a:pPr>
                      <a:r>
                        <a:rPr sz="1950" b="0">
                          <a:solidFill>
                            <a:srgbClr val="282B29"/>
                          </a:solidFill>
                          <a:latin typeface="Calibri"/>
                          <a:ea typeface="Calibri"/>
                          <a:cs typeface="Calibri"/>
                        </a:rPr>
                        <a:t>No cross-user access or stale evidence reuse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E4C1E-303E-4DD8-AFD9-87CC1369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210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Known limits: a single development run, PDF extraction gaps,</a:t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210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and no tested multi-user authorization or production deployment.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11252-C130-4DC9-B24E-8CE0F763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25F5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1500" b="0">
                <a:solidFill>
                  <a:srgbClr val="625F5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25F58"/>
                </a:solidFill>
                <a:latin typeface="Calibri"/>
                <a:ea typeface="Calibri"/>
                <a:cs typeface="Calibri"/>
              </a:rPr>
              <a:t>Lab 8.2 reinforced the need to evaluate each stage. Production controls remain future work.</a:t>
            </a:r>
          </a:p>
        </p:txBody>
      </p:sp>
    </p:spTree>
    <p:extLst>
      <p:ext uri="{BB962C8B-B14F-4D97-AF65-F5344CB8AC3E}">
        <p14:creationId xmlns:p14="http://schemas.microsoft.com/office/powerpoint/2010/main" val="393748619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official-section-heading">
            <a:extLst xmlns:a="http://schemas.openxmlformats.org/drawingml/2006/main">
              <a:ext uri="{FF2B5EF4-FFF2-40B4-BE49-F238E27FC236}">
                <a16:creationId xmlns:a16="http://schemas.microsoft.com/office/drawing/2014/main" id="{B56656B4-DF9C-46A4-8B40-4A41AF91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245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9A512F"/>
                </a:solidFill>
                <a:latin typeface="Calibri"/>
                <a:ea typeface="Calibri"/>
                <a:cs typeface="Calibri"/>
              </a:rPr>
              <a:t>Questions</a:t>
            </a:r>
          </a:p>
        </p:txBody>
      </p:sp>
      <p:sp>
        <p:nvSpPr>
          <p:cNvPr id="2" name="question-0">
            <a:extLst xmlns:a="http://schemas.openxmlformats.org/drawingml/2006/main">
              <a:ext uri="{FF2B5EF4-FFF2-40B4-BE49-F238E27FC236}">
                <a16:creationId xmlns:a16="http://schemas.microsoft.com/office/drawing/2014/main" id="{C3B828D0-407C-47FF-87CE-62359BB3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9A512F"/>
                </a:solidFill>
                <a:latin typeface="Calibri"/>
                <a:ea typeface="Calibri"/>
                <a:cs typeface="Calibri"/>
              </a:rPr>
              <a:t>Why this design?</a:t>
            </a:r>
          </a:p>
        </p:txBody>
      </p:sp>
      <p:sp>
        <p:nvSpPr>
          <p:cNvPr id="3" name="answer-0">
            <a:extLst xmlns:a="http://schemas.openxmlformats.org/drawingml/2006/main">
              <a:ext uri="{FF2B5EF4-FFF2-40B4-BE49-F238E27FC236}">
                <a16:creationId xmlns:a16="http://schemas.microsoft.com/office/drawing/2014/main" id="{D916DD2C-A6FD-4F1A-B6E3-45DD48D7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Inspectable evidence checks and bounded processing, building on the existing baseline.</a:t>
            </a:r>
          </a:p>
        </p:txBody>
      </p:sp>
      <p:sp>
        <p:nvSpPr>
          <p:cNvPr id="4" name="question-1">
            <a:extLst xmlns:a="http://schemas.openxmlformats.org/drawingml/2006/main">
              <a:ext uri="{FF2B5EF4-FFF2-40B4-BE49-F238E27FC236}">
                <a16:creationId xmlns:a16="http://schemas.microsoft.com/office/drawing/2014/main" id="{75B470C5-307F-47B3-A343-EA2C9CB6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9A512F"/>
                </a:solidFill>
                <a:latin typeface="Calibri"/>
                <a:ea typeface="Calibri"/>
                <a:cs typeface="Calibri"/>
              </a:rPr>
              <a:t>What did evaluation demonstrate?</a:t>
            </a:r>
          </a:p>
        </p:txBody>
      </p:sp>
      <p:sp>
        <p:nvSpPr>
          <p:cNvPr id="5" name="answer-1">
            <a:extLst xmlns:a="http://schemas.openxmlformats.org/drawingml/2006/main">
              <a:ext uri="{FF2B5EF4-FFF2-40B4-BE49-F238E27FC236}">
                <a16:creationId xmlns:a16="http://schemas.microsoft.com/office/drawing/2014/main" id="{8417DDAA-4FA4-4261-B665-8C52D7EB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A3 resisted the recorded attack. A0 reused a valid answer. B0 exposed a false rejection.</a:t>
            </a:r>
          </a:p>
        </p:txBody>
      </p:sp>
      <p:sp>
        <p:nvSpPr>
          <p:cNvPr id="6" name="question-2">
            <a:extLst xmlns:a="http://schemas.openxmlformats.org/drawingml/2006/main">
              <a:ext uri="{FF2B5EF4-FFF2-40B4-BE49-F238E27FC236}">
                <a16:creationId xmlns:a16="http://schemas.microsoft.com/office/drawing/2014/main" id="{F3306913-E6BF-4EAE-908A-9A529F2A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9A512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9A512F"/>
                </a:solidFill>
                <a:latin typeface="Calibri"/>
                <a:ea typeface="Calibri"/>
                <a:cs typeface="Calibri"/>
              </a:rPr>
              <a:t>Did the engineering trade-off pay off?</a:t>
            </a:r>
          </a:p>
        </p:txBody>
      </p:sp>
      <p:sp>
        <p:nvSpPr>
          <p:cNvPr id="7" name="answer-2">
            <a:extLst xmlns:a="http://schemas.openxmlformats.org/drawingml/2006/main">
              <a:ext uri="{FF2B5EF4-FFF2-40B4-BE49-F238E27FC236}">
                <a16:creationId xmlns:a16="http://schemas.microsoft.com/office/drawing/2014/main" id="{3311E1C1-A3A2-42A9-8EC6-219D1D58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387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The failure pattern improved in one case and worsened in another. The repeated pair took longer.</a:t>
            </a:r>
          </a:p>
        </p:txBody>
      </p:sp>
      <p:sp>
        <p:nvSpPr>
          <p:cNvPr id="8" name="closing">
            <a:extLst xmlns:a="http://schemas.openxmlformats.org/drawingml/2006/main">
              <a:ext uri="{FF2B5EF4-FFF2-40B4-BE49-F238E27FC236}">
                <a16:creationId xmlns:a16="http://schemas.microsoft.com/office/drawing/2014/main" id="{717252E9-CDE4-4DED-AEC4-30B58B9A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388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282B29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282B29"/>
                </a:solidFill>
                <a:latin typeface="Calibri"/>
                <a:ea typeface="Calibri"/>
                <a:cs typeface="Calibri"/>
              </a:rPr>
              <a:t>Next: improve quotation fidelity, then repeat quality and workload evaluation.</a:t>
            </a:r>
          </a:p>
        </p:txBody>
      </p:sp>
    </p:spTree>
    <p:extLst>
      <p:ext uri="{BB962C8B-B14F-4D97-AF65-F5344CB8AC3E}">
        <p14:creationId xmlns:p14="http://schemas.microsoft.com/office/powerpoint/2010/main" val="3937486198"/>
      </p:ext>
    </p:extLst>
  </p:cSld>
</p:sld>
</file>

<file path=ppt/theme/theme1.xml><?xml version="1.0" encoding="utf-8"?>
<a:theme xmlns:a="http://schemas.openxmlformats.org/drawingml/2006/main" name="1_MIT PE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lue War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2026-10-14T14:48:21.3090000Z</dcterms:created>
  <dcterms:modified xsi:type="dcterms:W3CDTF">2026-10-14T14:48:21.3090000Z</dcterms:modified>
</coreProperties>
</file>